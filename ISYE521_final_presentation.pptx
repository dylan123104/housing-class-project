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77" r:id="rId2"/>
    <p:sldId id="341" r:id="rId3"/>
    <p:sldId id="279" r:id="rId4"/>
    <p:sldId id="326" r:id="rId5"/>
    <p:sldId id="283" r:id="rId6"/>
    <p:sldId id="329" r:id="rId7"/>
    <p:sldId id="330" r:id="rId8"/>
    <p:sldId id="331" r:id="rId9"/>
    <p:sldId id="332" r:id="rId10"/>
    <p:sldId id="298" r:id="rId11"/>
    <p:sldId id="333" r:id="rId12"/>
    <p:sldId id="335" r:id="rId13"/>
    <p:sldId id="336" r:id="rId14"/>
    <p:sldId id="312" r:id="rId15"/>
    <p:sldId id="337" r:id="rId16"/>
    <p:sldId id="325" r:id="rId17"/>
    <p:sldId id="322" r:id="rId18"/>
    <p:sldId id="32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6592"/>
    <a:srgbClr val="121212"/>
    <a:srgbClr val="C5050C"/>
    <a:srgbClr val="0479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83"/>
    <p:restoredTop sz="96260"/>
  </p:normalViewPr>
  <p:slideViewPr>
    <p:cSldViewPr snapToGrid="0" snapToObjects="1">
      <p:cViewPr varScale="1">
        <p:scale>
          <a:sx n="84" d="100"/>
          <a:sy n="84" d="100"/>
        </p:scale>
        <p:origin x="902" y="3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400" b="1"/>
            </a:pPr>
            <a:r>
              <a:rPr lang="en-US" sz="1400" b="1"/>
              <a:t>Top standardized coefficients (Ridge)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Coefficient</c:v>
          </c:tx>
          <c:spPr>
            <a:solidFill>
              <a:srgbClr val="C00000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Secondary apt</c:v>
              </c:pt>
              <c:pt idx="1">
                <c:v>Area</c:v>
              </c:pt>
              <c:pt idx="2">
                <c:v>No renovation</c:v>
              </c:pt>
              <c:pt idx="3">
                <c:v>Moscow oblast</c:v>
              </c:pt>
              <c:pt idx="4">
                <c:v>Designer reno.</c:v>
              </c:pt>
            </c:strLit>
          </c:cat>
          <c:val>
            <c:numLit>
              <c:formatCode>General</c:formatCode>
              <c:ptCount val="5"/>
              <c:pt idx="0">
                <c:v>0.33</c:v>
              </c:pt>
              <c:pt idx="1">
                <c:v>0.4</c:v>
              </c:pt>
              <c:pt idx="2">
                <c:v>0.4</c:v>
              </c:pt>
              <c:pt idx="3">
                <c:v>-0.43</c:v>
              </c:pt>
              <c:pt idx="4">
                <c:v>0.65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BBF-45B4-AB0D-3308D971DD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1"/>
        <c:crosses val="autoZero"/>
        <c:crossBetween val="between"/>
      </c:valAx>
    </c:plotArea>
    <c:plotVisOnly val="1"/>
    <c:dispBlanksAs val="gap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400" b="1"/>
            </a:pPr>
            <a:r>
              <a:rPr lang="en-US" sz="1400" b="1"/>
              <a:t>R² — Train vs Test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Train R²</c:v>
          </c:tx>
          <c:spPr>
            <a:solidFill>
              <a:srgbClr val="BFBFBF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Initial</c:v>
              </c:pt>
              <c:pt idx="1">
                <c:v>Tuned</c:v>
              </c:pt>
            </c:strLit>
          </c:cat>
          <c:val>
            <c:numLit>
              <c:formatCode>General</c:formatCode>
              <c:ptCount val="2"/>
              <c:pt idx="0">
                <c:v>1</c:v>
              </c:pt>
              <c:pt idx="1">
                <c:v>0.94730000000000003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2FD-4342-8457-63A1A7C0180C}"/>
            </c:ext>
          </c:extLst>
        </c:ser>
        <c:ser>
          <c:idx val="1"/>
          <c:order val="1"/>
          <c:tx>
            <c:v>Test R²</c:v>
          </c:tx>
          <c:spPr>
            <a:solidFill>
              <a:srgbClr val="C00000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Initial</c:v>
              </c:pt>
              <c:pt idx="1">
                <c:v>Tuned</c:v>
              </c:pt>
            </c:strLit>
          </c:cat>
          <c:val>
            <c:numLit>
              <c:formatCode>General</c:formatCode>
              <c:ptCount val="2"/>
              <c:pt idx="0">
                <c:v>0.88680000000000003</c:v>
              </c:pt>
              <c:pt idx="1">
                <c:v>0.92430000000000001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2FD-4342-8457-63A1A7C018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.02"/>
          <c:min val="0.8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400" b="1"/>
            </a:pPr>
            <a:r>
              <a:rPr lang="en-US" sz="1400" b="1"/>
              <a:t>RF permutation importance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Importance</c:v>
          </c:tx>
          <c:spPr>
            <a:solidFill>
              <a:srgbClr val="C00000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Kitchen area</c:v>
              </c:pt>
              <c:pt idx="1">
                <c:v>Living area</c:v>
              </c:pt>
              <c:pt idx="2">
                <c:v>Region</c:v>
              </c:pt>
              <c:pt idx="3">
                <c:v>Apt type</c:v>
              </c:pt>
              <c:pt idx="4">
                <c:v>Area</c:v>
              </c:pt>
            </c:strLit>
          </c:cat>
          <c:val>
            <c:numLit>
              <c:formatCode>General</c:formatCode>
              <c:ptCount val="5"/>
              <c:pt idx="0">
                <c:v>2.3300000000000001E-2</c:v>
              </c:pt>
              <c:pt idx="1">
                <c:v>4.9500000000000002E-2</c:v>
              </c:pt>
              <c:pt idx="2">
                <c:v>7.1499999999999994E-2</c:v>
              </c:pt>
              <c:pt idx="3">
                <c:v>0.09</c:v>
              </c:pt>
              <c:pt idx="4">
                <c:v>0.3614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81A-40EF-85A8-6DBEB8B93A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1"/>
        <c:crosses val="autoZero"/>
        <c:crossBetween val="between"/>
      </c:valAx>
    </c:plotArea>
    <c:plotVisOnly val="1"/>
    <c:dispBlanksAs val="gap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 rot="0" spcFirstLastPara="1" vertOverflow="ellipsis" wrap="square" anchor="ctr" anchorCtr="1"/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rPr lang="en-US" sz="1600" b="1">
                <a:solidFill>
                  <a:srgbClr val="333333"/>
                </a:solidFill>
              </a:rPr>
              <a:t>Test R² by Model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Test R²</c:v>
          </c:tx>
          <c:invertIfNegative val="1"/>
          <c:dPt>
            <c:idx val="0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2E4-4B16-8178-B19E120443EF}"/>
              </c:ext>
            </c:extLst>
          </c:dPt>
          <c:dPt>
            <c:idx val="1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2E4-4B16-8178-B19E120443EF}"/>
              </c:ext>
            </c:extLst>
          </c:dPt>
          <c:dPt>
            <c:idx val="2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A2E4-4B16-8178-B19E120443EF}"/>
              </c:ext>
            </c:extLst>
          </c:dPt>
          <c:dPt>
            <c:idx val="3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A2E4-4B16-8178-B19E120443EF}"/>
              </c:ext>
            </c:extLst>
          </c:dPt>
          <c:dPt>
            <c:idx val="4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A2E4-4B16-8178-B19E120443EF}"/>
              </c:ext>
            </c:extLst>
          </c:dPt>
          <c:dPt>
            <c:idx val="5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A2E4-4B16-8178-B19E120443EF}"/>
              </c:ext>
            </c:extLst>
          </c:dPt>
          <c:dPt>
            <c:idx val="6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A2E4-4B16-8178-B19E120443EF}"/>
              </c:ext>
            </c:extLst>
          </c:dPt>
          <c:dPt>
            <c:idx val="7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A2E4-4B16-8178-B19E120443EF}"/>
              </c:ext>
            </c:extLst>
          </c:dPt>
          <c:dPt>
            <c:idx val="8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1-A2E4-4B16-8178-B19E120443E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Lasso</c:v>
              </c:pt>
              <c:pt idx="1">
                <c:v>OLS</c:v>
              </c:pt>
              <c:pt idx="2">
                <c:v>Ridge</c:v>
              </c:pt>
              <c:pt idx="3">
                <c:v>AdaBoost</c:v>
              </c:pt>
              <c:pt idx="4">
                <c:v>DT (initial)</c:v>
              </c:pt>
              <c:pt idx="5">
                <c:v>Neural Net</c:v>
              </c:pt>
              <c:pt idx="6">
                <c:v>DT (tuned)</c:v>
              </c:pt>
              <c:pt idx="7">
                <c:v>Stacking</c:v>
              </c:pt>
              <c:pt idx="8">
                <c:v>Random Forest</c:v>
              </c:pt>
            </c:strLit>
          </c:cat>
          <c:val>
            <c:numLit>
              <c:formatCode>0.000</c:formatCode>
              <c:ptCount val="9"/>
              <c:pt idx="0">
                <c:v>0.86939999999999995</c:v>
              </c:pt>
              <c:pt idx="1">
                <c:v>0.86939999999999995</c:v>
              </c:pt>
              <c:pt idx="2">
                <c:v>0.86939999999999995</c:v>
              </c:pt>
              <c:pt idx="3">
                <c:v>0.88639999999999997</c:v>
              </c:pt>
              <c:pt idx="4">
                <c:v>0.88680000000000003</c:v>
              </c:pt>
              <c:pt idx="5">
                <c:v>0.90649999999999997</c:v>
              </c:pt>
              <c:pt idx="6">
                <c:v>0.92430000000000001</c:v>
              </c:pt>
              <c:pt idx="7">
                <c:v>0.94499999999999995</c:v>
              </c:pt>
              <c:pt idx="8">
                <c:v>0.94640000000000002</c:v>
              </c:pt>
            </c:numLit>
          </c:val>
          <c:extLst>
            <c:ext xmlns:c16="http://schemas.microsoft.com/office/drawing/2014/chart" uri="{C3380CC4-5D6E-409C-BE32-E72D297353CC}">
              <c16:uniqueId val="{00000012-A2E4-4B16-8178-B19E120443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11"/>
        <c:axId val="222"/>
      </c:barChart>
      <c:catAx>
        <c:axId val="111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</a:defRPr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  <c:max val="1"/>
          <c:min val="0.8"/>
        </c:scaling>
        <c:delete val="0"/>
        <c:axPos val="t"/>
        <c:numFmt formatCode="0.000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</a:defRPr>
            </a:pPr>
            <a:endParaRPr lang="en-US"/>
          </a:p>
        </c:txPr>
        <c:crossAx val="11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AC9D30-F937-4946-BF68-C2E8F399033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857A40-3F5B-2746-BCA8-8E2C028FF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386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BC996-1AF1-15C1-70FE-615DF9CBFE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917" y="903391"/>
            <a:ext cx="6250685" cy="2106570"/>
          </a:xfrm>
        </p:spPr>
        <p:txBody>
          <a:bodyPr rIns="91440">
            <a:normAutofit/>
          </a:bodyPr>
          <a:lstStyle>
            <a:lvl1pPr>
              <a:defRPr sz="3600" b="1" i="0">
                <a:solidFill>
                  <a:schemeClr val="tx1">
                    <a:lumMod val="90000"/>
                    <a:lumOff val="10000"/>
                  </a:schemeClr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>
                <a:effectLst/>
              </a:rPr>
              <a:t>Insert slide title in title or sentence case 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31B425-093C-0149-952F-11573DF09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917" y="3218871"/>
            <a:ext cx="353642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1AB265-C0D2-A543-B156-B0221787B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33907"/>
            <a:ext cx="9144000" cy="11240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B10240F-B4BA-0448-B9CB-BAB80DBF6B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8917" y="3519489"/>
            <a:ext cx="6250685" cy="701877"/>
          </a:xfrm>
        </p:spPr>
        <p:txBody>
          <a:bodyPr anchor="t">
            <a:noAutofit/>
          </a:bodyPr>
          <a:lstStyle>
            <a:lvl1pPr marL="0" indent="0"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pPr lvl="0"/>
            <a:r>
              <a:rPr lang="en-US" dirty="0"/>
              <a:t>Insert subtitle, date, or other important information, not to exceed two lines 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254FFE49-5199-9649-BB93-1060548611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8917" y="5953913"/>
            <a:ext cx="7733559" cy="52308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name, position, department/unit</a:t>
            </a:r>
          </a:p>
        </p:txBody>
      </p:sp>
    </p:spTree>
    <p:extLst>
      <p:ext uri="{BB962C8B-B14F-4D97-AF65-F5344CB8AC3E}">
        <p14:creationId xmlns:p14="http://schemas.microsoft.com/office/powerpoint/2010/main" val="4126455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B1C6F3-8D05-7245-98E0-6A89EF37B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144000" cy="5733906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DE0C0CF-9F78-455B-D981-3DC0727F34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917" y="905689"/>
            <a:ext cx="6250685" cy="2106570"/>
          </a:xfrm>
        </p:spPr>
        <p:txBody>
          <a:bodyPr rIns="9144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</a:rPr>
              <a:t>Insert slide title in title or sentence case 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31B425-093C-0149-952F-11573DF09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917" y="3218871"/>
            <a:ext cx="353642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B10240F-B4BA-0448-B9CB-BAB80DBF6B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8917" y="3519489"/>
            <a:ext cx="6250685" cy="701877"/>
          </a:xfrm>
        </p:spPr>
        <p:txBody>
          <a:bodyPr anchor="t">
            <a:noAutofit/>
          </a:bodyPr>
          <a:lstStyle>
            <a:lvl1pPr marL="0" indent="0">
              <a:buNone/>
              <a:defRPr sz="2200">
                <a:solidFill>
                  <a:schemeClr val="tx1">
                    <a:lumMod val="25000"/>
                    <a:lumOff val="75000"/>
                  </a:schemeClr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pPr lvl="0"/>
            <a:r>
              <a:rPr lang="en-US" dirty="0"/>
              <a:t>Insert subtitle, date, or other important information, not to exceed two lines 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254FFE49-5199-9649-BB93-1060548611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8917" y="5953913"/>
            <a:ext cx="7733559" cy="52308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6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name, position, department/unit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797619-8B01-0549-8F5E-787C3097DC7B}"/>
              </a:ext>
            </a:extLst>
          </p:cNvPr>
          <p:cNvSpPr/>
          <p:nvPr userDrawn="1"/>
        </p:nvSpPr>
        <p:spPr>
          <a:xfrm>
            <a:off x="8530683" y="0"/>
            <a:ext cx="528175" cy="10244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A5686C4D-738C-8049-8292-137F1F10E4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69280" y="222227"/>
            <a:ext cx="456123" cy="7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92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3EAA1-5370-00EF-9A69-09341B248E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021" y="457200"/>
            <a:ext cx="8001000" cy="1066800"/>
          </a:xfrm>
        </p:spPr>
        <p:txBody>
          <a:bodyPr rIns="91440"/>
          <a:lstStyle>
            <a:lvl1pPr>
              <a:defRPr b="1" i="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>
                <a:effectLst/>
              </a:rPr>
              <a:t>Insert slide title in title or sentence case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DFC75F-7C56-4347-B180-B45A7C3C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1476" y="1625704"/>
            <a:ext cx="353642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33615FB-E867-334E-BB0E-3B18A265957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14425" y="1840448"/>
            <a:ext cx="7258050" cy="444605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tabLst/>
              <a:defRPr sz="22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 sz="1575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</a:lstStyle>
          <a:p>
            <a:pPr lvl="0"/>
            <a:r>
              <a:rPr lang="en-US" dirty="0"/>
              <a:t>Bulleted list</a:t>
            </a:r>
          </a:p>
          <a:p>
            <a:pPr lvl="0"/>
            <a:r>
              <a:rPr lang="en-US" dirty="0"/>
              <a:t>Bulleted list</a:t>
            </a:r>
          </a:p>
          <a:p>
            <a:pPr lvl="0"/>
            <a:r>
              <a:rPr lang="en-US" dirty="0"/>
              <a:t>Bulleted list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3A315EF-C99D-DF4A-94FC-CDB4F9DECB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42306"/>
            <a:ext cx="6697346" cy="352084"/>
          </a:xfrm>
          <a:solidFill>
            <a:schemeClr val="accent1"/>
          </a:solidFill>
          <a:ln>
            <a:noFill/>
          </a:ln>
        </p:spPr>
        <p:txBody>
          <a:bodyPr wrap="none" lIns="274320" tIns="64008" rIns="182880" bIns="91440" anchor="ctr" anchorCtr="0">
            <a:sp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Insert presentation topic or department/unit name (text box will expand to fit)</a:t>
            </a:r>
          </a:p>
        </p:txBody>
      </p:sp>
    </p:spTree>
    <p:extLst>
      <p:ext uri="{BB962C8B-B14F-4D97-AF65-F5344CB8AC3E}">
        <p14:creationId xmlns:p14="http://schemas.microsoft.com/office/powerpoint/2010/main" val="3626283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F23CF-2C75-F2A9-1F84-F23AB1A22F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Ins="91440"/>
          <a:lstStyle>
            <a:lvl1pPr>
              <a:defRPr b="1" i="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>
                <a:effectLst/>
              </a:rPr>
              <a:t>Insert slide title in title or sentence case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DFC75F-7C56-4347-B180-B45A7C3C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1476" y="1625704"/>
            <a:ext cx="353642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33615FB-E867-334E-BB0E-3B18A265957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14425" y="1840448"/>
            <a:ext cx="3361911" cy="444605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tabLst/>
              <a:defRPr sz="1950">
                <a:solidFill>
                  <a:schemeClr val="tx1"/>
                </a:solidFill>
              </a:defRPr>
            </a:lvl1pPr>
            <a:lvl2pPr>
              <a:defRPr sz="1575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</a:lstStyle>
          <a:p>
            <a:pPr lvl="0"/>
            <a:r>
              <a:rPr lang="en-US" dirty="0"/>
              <a:t>Bulleted list</a:t>
            </a:r>
          </a:p>
          <a:p>
            <a:pPr lvl="0"/>
            <a:r>
              <a:rPr lang="en-US" dirty="0"/>
              <a:t>Bulleted list</a:t>
            </a:r>
          </a:p>
          <a:p>
            <a:pPr lvl="0"/>
            <a:r>
              <a:rPr lang="en-US" dirty="0"/>
              <a:t>Bulleted list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3A315EF-C99D-DF4A-94FC-CDB4F9DECB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6537038"/>
            <a:ext cx="6697346" cy="352084"/>
          </a:xfrm>
          <a:solidFill>
            <a:schemeClr val="accent1"/>
          </a:solidFill>
          <a:ln>
            <a:noFill/>
          </a:ln>
        </p:spPr>
        <p:txBody>
          <a:bodyPr wrap="none" lIns="274320" tIns="64008" rIns="182880" bIns="91440" anchor="ctr" anchorCtr="0">
            <a:sp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Insert presentation topic or department/unit name (text box will expand to fit)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B0DEE38D-2FF0-2A49-A7D1-AF607FA3AB7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67665" y="1840448"/>
            <a:ext cx="3704810" cy="444605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tabLst/>
              <a:defRPr sz="1950">
                <a:solidFill>
                  <a:schemeClr val="tx1"/>
                </a:solidFill>
              </a:defRPr>
            </a:lvl1pPr>
            <a:lvl2pPr>
              <a:defRPr sz="1575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</a:lstStyle>
          <a:p>
            <a:pPr lvl="0"/>
            <a:r>
              <a:rPr lang="en-US" dirty="0"/>
              <a:t>Bulleted list</a:t>
            </a:r>
          </a:p>
          <a:p>
            <a:pPr lvl="0"/>
            <a:r>
              <a:rPr lang="en-US" dirty="0"/>
              <a:t>Bulleted list</a:t>
            </a:r>
          </a:p>
          <a:p>
            <a:pPr lvl="0"/>
            <a:r>
              <a:rPr lang="en-US" dirty="0"/>
              <a:t>Bulleted list</a:t>
            </a:r>
          </a:p>
        </p:txBody>
      </p:sp>
    </p:spTree>
    <p:extLst>
      <p:ext uri="{BB962C8B-B14F-4D97-AF65-F5344CB8AC3E}">
        <p14:creationId xmlns:p14="http://schemas.microsoft.com/office/powerpoint/2010/main" val="3740767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7A194C-A4B8-2148-8BE0-5451BAAC5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234"/>
            <a:ext cx="9144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7C912DB-E11B-3D4C-9D09-221D4E874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024128"/>
            <a:ext cx="8372475" cy="58256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3DBCEB-EA83-B646-A716-9EAB713C52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425" y="4226929"/>
            <a:ext cx="3948113" cy="354459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  <a:lvl2pPr>
              <a:defRPr sz="1575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</a:lstStyle>
          <a:p>
            <a:pPr lvl="0"/>
            <a:r>
              <a:rPr lang="en-US" dirty="0"/>
              <a:t>Insert subtitle if needed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2A8E911-3157-1444-8D3E-B3404B047192}"/>
              </a:ext>
            </a:extLst>
          </p:cNvPr>
          <p:cNvSpPr/>
          <p:nvPr userDrawn="1"/>
        </p:nvSpPr>
        <p:spPr>
          <a:xfrm>
            <a:off x="6535674" y="1024128"/>
            <a:ext cx="1836801" cy="5833872"/>
          </a:xfrm>
          <a:custGeom>
            <a:avLst/>
            <a:gdLst>
              <a:gd name="connsiteX0" fmla="*/ 0 w 3290316"/>
              <a:gd name="connsiteY0" fmla="*/ 0 h 6193766"/>
              <a:gd name="connsiteX1" fmla="*/ 1490472 w 3290316"/>
              <a:gd name="connsiteY1" fmla="*/ 0 h 6193766"/>
              <a:gd name="connsiteX2" fmla="*/ 2980944 w 3290316"/>
              <a:gd name="connsiteY2" fmla="*/ 0 h 6193766"/>
              <a:gd name="connsiteX3" fmla="*/ 3290316 w 3290316"/>
              <a:gd name="connsiteY3" fmla="*/ 0 h 6193766"/>
              <a:gd name="connsiteX4" fmla="*/ 3290316 w 3290316"/>
              <a:gd name="connsiteY4" fmla="*/ 6185532 h 6193766"/>
              <a:gd name="connsiteX5" fmla="*/ 1492453 w 3290316"/>
              <a:gd name="connsiteY5" fmla="*/ 6185532 h 6193766"/>
              <a:gd name="connsiteX6" fmla="*/ 1490472 w 3290316"/>
              <a:gd name="connsiteY6" fmla="*/ 6193766 h 6193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90316" h="6193766">
                <a:moveTo>
                  <a:pt x="0" y="0"/>
                </a:moveTo>
                <a:lnTo>
                  <a:pt x="1490472" y="0"/>
                </a:lnTo>
                <a:lnTo>
                  <a:pt x="2980944" y="0"/>
                </a:lnTo>
                <a:lnTo>
                  <a:pt x="3290316" y="0"/>
                </a:lnTo>
                <a:lnTo>
                  <a:pt x="3290316" y="6185532"/>
                </a:lnTo>
                <a:lnTo>
                  <a:pt x="1492453" y="6185532"/>
                </a:lnTo>
                <a:lnTo>
                  <a:pt x="1490472" y="6193766"/>
                </a:lnTo>
                <a:close/>
              </a:path>
            </a:pathLst>
          </a:custGeom>
          <a:solidFill>
            <a:schemeClr val="accent1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B6C9F2-5465-8D47-8351-B6B681C45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4426" y="4007404"/>
            <a:ext cx="353642" cy="94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1266FC-2449-334F-9B22-0937AD6B1315}"/>
              </a:ext>
            </a:extLst>
          </p:cNvPr>
          <p:cNvSpPr/>
          <p:nvPr userDrawn="1"/>
        </p:nvSpPr>
        <p:spPr>
          <a:xfrm>
            <a:off x="8530101" y="10026"/>
            <a:ext cx="528175" cy="10244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39BAB6-56DA-7C3C-9319-C5F490DF8E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4425" y="2506366"/>
            <a:ext cx="6209402" cy="1375519"/>
          </a:xfrm>
        </p:spPr>
        <p:txBody>
          <a:bodyPr rIns="91440">
            <a:normAutofit/>
          </a:bodyPr>
          <a:lstStyle>
            <a:lvl1pPr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</a:rPr>
              <a:t>Insert section header slide title</a:t>
            </a:r>
            <a:endParaRPr lang="en-US" dirty="0"/>
          </a:p>
        </p:txBody>
      </p:sp>
      <p:pic>
        <p:nvPicPr>
          <p:cNvPr id="16" name="Picture 15" descr="Logo&#10;&#10;Description automatically generated">
            <a:extLst>
              <a:ext uri="{FF2B5EF4-FFF2-40B4-BE49-F238E27FC236}">
                <a16:creationId xmlns:a16="http://schemas.microsoft.com/office/drawing/2014/main" id="{0E0B867E-4626-0B46-8BD3-B9D962EC3C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68698" y="232253"/>
            <a:ext cx="456123" cy="7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427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ECEB0E-880C-6049-9B69-BA2FEE345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234"/>
            <a:ext cx="9144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7C912DB-E11B-3D4C-9D09-221D4E874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024128"/>
            <a:ext cx="8372475" cy="583387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3DBCEB-EA83-B646-A716-9EAB713C52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425" y="4226929"/>
            <a:ext cx="3948113" cy="354459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  <a:lvl2pPr>
              <a:defRPr sz="1575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</a:lstStyle>
          <a:p>
            <a:pPr lvl="0"/>
            <a:r>
              <a:rPr lang="en-US" dirty="0"/>
              <a:t>Insert subtitle if needed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1E94CE-F71B-1944-B826-00353C872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4426" y="4007404"/>
            <a:ext cx="353642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0FF968CE-35E2-E543-8D71-1D8778441684}"/>
              </a:ext>
            </a:extLst>
          </p:cNvPr>
          <p:cNvSpPr/>
          <p:nvPr userDrawn="1"/>
        </p:nvSpPr>
        <p:spPr>
          <a:xfrm>
            <a:off x="6535674" y="1024128"/>
            <a:ext cx="1836801" cy="5833872"/>
          </a:xfrm>
          <a:custGeom>
            <a:avLst/>
            <a:gdLst>
              <a:gd name="connsiteX0" fmla="*/ 0 w 3290316"/>
              <a:gd name="connsiteY0" fmla="*/ 0 h 6193766"/>
              <a:gd name="connsiteX1" fmla="*/ 1490472 w 3290316"/>
              <a:gd name="connsiteY1" fmla="*/ 0 h 6193766"/>
              <a:gd name="connsiteX2" fmla="*/ 2980944 w 3290316"/>
              <a:gd name="connsiteY2" fmla="*/ 0 h 6193766"/>
              <a:gd name="connsiteX3" fmla="*/ 3290316 w 3290316"/>
              <a:gd name="connsiteY3" fmla="*/ 0 h 6193766"/>
              <a:gd name="connsiteX4" fmla="*/ 3290316 w 3290316"/>
              <a:gd name="connsiteY4" fmla="*/ 6185532 h 6193766"/>
              <a:gd name="connsiteX5" fmla="*/ 1492453 w 3290316"/>
              <a:gd name="connsiteY5" fmla="*/ 6185532 h 6193766"/>
              <a:gd name="connsiteX6" fmla="*/ 1490472 w 3290316"/>
              <a:gd name="connsiteY6" fmla="*/ 6193766 h 6193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90316" h="6193766">
                <a:moveTo>
                  <a:pt x="0" y="0"/>
                </a:moveTo>
                <a:lnTo>
                  <a:pt x="1490472" y="0"/>
                </a:lnTo>
                <a:lnTo>
                  <a:pt x="2980944" y="0"/>
                </a:lnTo>
                <a:lnTo>
                  <a:pt x="3290316" y="0"/>
                </a:lnTo>
                <a:lnTo>
                  <a:pt x="3290316" y="6185532"/>
                </a:lnTo>
                <a:lnTo>
                  <a:pt x="1492453" y="6185532"/>
                </a:lnTo>
                <a:lnTo>
                  <a:pt x="1490472" y="6193766"/>
                </a:lnTo>
                <a:close/>
              </a:path>
            </a:pathLst>
          </a:custGeom>
          <a:solidFill>
            <a:schemeClr val="tx1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743335-BCFE-4F42-9A19-F9110C930604}"/>
              </a:ext>
            </a:extLst>
          </p:cNvPr>
          <p:cNvSpPr/>
          <p:nvPr userDrawn="1"/>
        </p:nvSpPr>
        <p:spPr>
          <a:xfrm>
            <a:off x="8529632" y="4133"/>
            <a:ext cx="528175" cy="10244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9A7CB55A-D1C4-764D-A70A-997226326E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68229" y="226360"/>
            <a:ext cx="456123" cy="7167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0F3196-1D5F-5590-1845-46B46A3EC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4425" y="2514600"/>
            <a:ext cx="6209402" cy="1367564"/>
          </a:xfrm>
        </p:spPr>
        <p:txBody>
          <a:bodyPr rIns="91440">
            <a:normAutofit/>
          </a:bodyPr>
          <a:lstStyle>
            <a:lvl1pPr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</a:rPr>
              <a:t>Insert section header slide 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71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457200"/>
            <a:ext cx="8001000" cy="1066800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 in title or sentence case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E6563B7D-9BE5-4EDB-7EC3-7B9AA5A80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6537038"/>
            <a:ext cx="6697346" cy="352084"/>
          </a:xfrm>
          <a:solidFill>
            <a:schemeClr val="accent1"/>
          </a:solidFill>
          <a:ln>
            <a:noFill/>
          </a:ln>
        </p:spPr>
        <p:txBody>
          <a:bodyPr wrap="none" lIns="274320" tIns="64008" rIns="182880" bIns="91440" anchor="ctr" anchorCtr="0">
            <a:sp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Insert presentation topic or department/unit name (text box will expand to fit)</a:t>
            </a:r>
          </a:p>
        </p:txBody>
      </p:sp>
    </p:spTree>
    <p:extLst>
      <p:ext uri="{BB962C8B-B14F-4D97-AF65-F5344CB8AC3E}">
        <p14:creationId xmlns:p14="http://schemas.microsoft.com/office/powerpoint/2010/main" val="1420361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2D08E-EF69-07CC-EDB4-C1B4E820D7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335280"/>
            <a:ext cx="8001000" cy="313932"/>
          </a:xfrm>
        </p:spPr>
        <p:txBody>
          <a:bodyPr>
            <a:normAutofit/>
          </a:bodyPr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Blank Slide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55345078-1255-6084-CC48-FB3355F2B5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6537038"/>
            <a:ext cx="6697346" cy="352084"/>
          </a:xfrm>
          <a:solidFill>
            <a:schemeClr val="accent1"/>
          </a:solidFill>
          <a:ln>
            <a:noFill/>
          </a:ln>
        </p:spPr>
        <p:txBody>
          <a:bodyPr wrap="none" lIns="274320" tIns="64008" rIns="182880" bIns="91440" anchor="ctr" anchorCtr="0">
            <a:sp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Insert presentation topic or department/unit name (text box will expand to fit)</a:t>
            </a:r>
          </a:p>
        </p:txBody>
      </p:sp>
    </p:spTree>
    <p:extLst>
      <p:ext uri="{BB962C8B-B14F-4D97-AF65-F5344CB8AC3E}">
        <p14:creationId xmlns:p14="http://schemas.microsoft.com/office/powerpoint/2010/main" val="649504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-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05D359-7029-C74B-8048-D1347E3F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Picture 4" descr="UW–Madison logo with white text on red background">
            <a:extLst>
              <a:ext uri="{FF2B5EF4-FFF2-40B4-BE49-F238E27FC236}">
                <a16:creationId xmlns:a16="http://schemas.microsoft.com/office/drawing/2014/main" id="{30C90E4E-BFE2-F24A-BEE4-72198F0978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55444" y="2976145"/>
            <a:ext cx="2633112" cy="885831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74FD8238-1613-B6D1-CBB4-54E43A2B0A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13140"/>
            <a:ext cx="8001000" cy="203200"/>
          </a:xfrm>
        </p:spPr>
        <p:txBody>
          <a:bodyPr>
            <a:normAutofit/>
          </a:bodyPr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Red Closing Slide</a:t>
            </a:r>
          </a:p>
        </p:txBody>
      </p:sp>
    </p:spTree>
    <p:extLst>
      <p:ext uri="{BB962C8B-B14F-4D97-AF65-F5344CB8AC3E}">
        <p14:creationId xmlns:p14="http://schemas.microsoft.com/office/powerpoint/2010/main" val="2583120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05D359-7029-C74B-8048-D1347E3F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91440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Picture 4" descr="UW–Madison logo with white text on black background">
            <a:extLst>
              <a:ext uri="{FF2B5EF4-FFF2-40B4-BE49-F238E27FC236}">
                <a16:creationId xmlns:a16="http://schemas.microsoft.com/office/drawing/2014/main" id="{5AC3464E-EAD7-2F46-80F6-DC8D4A387F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55444" y="2986084"/>
            <a:ext cx="2633112" cy="8858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52FCC8-1D08-BC50-5775-78B866D9A1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13139"/>
            <a:ext cx="8001000" cy="203200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Black Closing Slide</a:t>
            </a:r>
          </a:p>
        </p:txBody>
      </p:sp>
    </p:spTree>
    <p:extLst>
      <p:ext uri="{BB962C8B-B14F-4D97-AF65-F5344CB8AC3E}">
        <p14:creationId xmlns:p14="http://schemas.microsoft.com/office/powerpoint/2010/main" val="2314827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F1B1986-83A7-3542-BAD9-60B6AA5AD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0683" y="0"/>
            <a:ext cx="528175" cy="10244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9" name="Picture 8" descr="UW–Madison red crest logo">
            <a:extLst>
              <a:ext uri="{FF2B5EF4-FFF2-40B4-BE49-F238E27FC236}">
                <a16:creationId xmlns:a16="http://schemas.microsoft.com/office/drawing/2014/main" id="{AE3C76A7-671B-A440-9E04-764EF15815E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569280" y="222227"/>
            <a:ext cx="456123" cy="71676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475" y="457200"/>
            <a:ext cx="8001000" cy="1066800"/>
          </a:xfrm>
          <a:prstGeom prst="rect">
            <a:avLst/>
          </a:prstGeom>
        </p:spPr>
        <p:txBody>
          <a:bodyPr vert="horz" lIns="0" tIns="4572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4425" y="1828800"/>
            <a:ext cx="7258050" cy="4457701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5610"/>
            <a:ext cx="795440" cy="3139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64008" rIns="91440" bIns="64008" rtlCol="0" anchor="ctr">
            <a:spAutoFit/>
          </a:bodyPr>
          <a:lstStyle>
            <a:lvl1pPr algn="ctr">
              <a:defRPr sz="1200" b="0" i="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47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74" r:id="rId4"/>
    <p:sldLayoutId id="2147483663" r:id="rId5"/>
    <p:sldLayoutId id="2147483673" r:id="rId6"/>
    <p:sldLayoutId id="2147483666" r:id="rId7"/>
    <p:sldLayoutId id="2147483667" r:id="rId8"/>
    <p:sldLayoutId id="2147483676" r:id="rId9"/>
    <p:sldLayoutId id="2147483677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1pPr>
    </p:titleStyle>
    <p:bodyStyle>
      <a:lvl1pPr marL="132160" indent="-13216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SzPct val="90000"/>
        <a:buFont typeface="Arial" panose="020B0604020202020204" pitchFamily="34" charset="0"/>
        <a:buChar char="•"/>
        <a:tabLst/>
        <a:defRPr sz="2200" b="0" i="0" kern="1200">
          <a:solidFill>
            <a:schemeClr val="tx1"/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1pPr>
      <a:lvl2pPr marL="476250" indent="-1333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2000" b="0" i="0" kern="1200">
          <a:solidFill>
            <a:schemeClr val="tx1"/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2pPr>
      <a:lvl3pPr marL="819150" indent="-1333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3pPr>
      <a:lvl4pPr marL="1157288" indent="-128588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4pPr>
      <a:lvl5pPr marL="1501379" indent="-129779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 userDrawn="1">
          <p15:clr>
            <a:srgbClr val="F26B43"/>
          </p15:clr>
        </p15:guide>
        <p15:guide id="2" pos="54" userDrawn="1">
          <p15:clr>
            <a:srgbClr val="F26B43"/>
          </p15:clr>
        </p15:guide>
        <p15:guide id="3" pos="5706" userDrawn="1">
          <p15:clr>
            <a:srgbClr val="F26B43"/>
          </p15:clr>
        </p15:guide>
        <p15:guide id="4" pos="234" userDrawn="1">
          <p15:clr>
            <a:srgbClr val="F26B43"/>
          </p15:clr>
        </p15:guide>
        <p15:guide id="5" pos="5436" userDrawn="1">
          <p15:clr>
            <a:srgbClr val="F26B43"/>
          </p15:clr>
        </p15:guide>
        <p15:guide id="6" orient="horz" pos="4248" userDrawn="1">
          <p15:clr>
            <a:srgbClr val="F26B43"/>
          </p15:clr>
        </p15:guide>
        <p15:guide id="7" orient="horz" pos="288" userDrawn="1">
          <p15:clr>
            <a:srgbClr val="F26B43"/>
          </p15:clr>
        </p15:guide>
        <p15:guide id="8" orient="horz" pos="960" userDrawn="1">
          <p15:clr>
            <a:srgbClr val="F26B43"/>
          </p15:clr>
        </p15:guide>
        <p15:guide id="9" pos="5274" userDrawn="1">
          <p15:clr>
            <a:srgbClr val="F26B43"/>
          </p15:clr>
        </p15:guide>
        <p15:guide id="10" pos="702" userDrawn="1">
          <p15:clr>
            <a:srgbClr val="F26B43"/>
          </p15:clr>
        </p15:guide>
        <p15:guide id="11" orient="horz" pos="1152" userDrawn="1">
          <p15:clr>
            <a:srgbClr val="F26B43"/>
          </p15:clr>
        </p15:guide>
        <p15:guide id="12" orient="horz" pos="39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BFB8B-7C61-A433-7A3D-0B1B926F9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Predicting Moscow Apartment Prices</a:t>
            </a:r>
          </a:p>
          <a:p>
            <a:r>
              <a:rPr lang="en-US" sz="2800" dirty="0"/>
              <a:t>A Machine Learning Comparison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E601B6-AB6F-8B1E-E2A1-0A48FFFF8B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2000" dirty="0"/>
              <a:t>Mason Reitmeier  •  Dylan Hicks  •  Justin Zens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3A8F3C-1A3C-1C77-BF50-3DD4CC4E14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400" dirty="0"/>
              <a:t>ISyE 521: Machine Learning in Action  |  Spring 2026</a:t>
            </a:r>
          </a:p>
        </p:txBody>
      </p:sp>
    </p:spTree>
    <p:extLst>
      <p:ext uri="{BB962C8B-B14F-4D97-AF65-F5344CB8AC3E}">
        <p14:creationId xmlns:p14="http://schemas.microsoft.com/office/powerpoint/2010/main" val="3438794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231E8-9826-4F82-AB67-92C0E7AA0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72537-8BB3-8564-9F51-4CFE7A3093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" y="6537647"/>
            <a:ext cx="2493375" cy="350865"/>
          </a:xfrm>
        </p:spPr>
        <p:txBody>
          <a:bodyPr>
            <a:spAutoFit/>
          </a:bodyPr>
          <a:lstStyle/>
          <a:p>
            <a:r>
              <a:rPr lang="en-US" dirty="0"/>
              <a:t>Abstract  |  Headline results</a:t>
            </a:r>
          </a:p>
        </p:txBody>
      </p:sp>
      <p:sp>
        <p:nvSpPr>
          <p:cNvPr id="100" name="Headline Banner"/>
          <p:cNvSpPr>
            <a:spLocks noGrp="1"/>
          </p:cNvSpPr>
          <p:nvPr/>
        </p:nvSpPr>
        <p:spPr>
          <a:xfrm>
            <a:off x="368300" y="1651000"/>
            <a:ext cx="8407400" cy="660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177800" tIns="76200" rIns="177800" bIns="7620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Random Forest predicts Moscow apartment prices within ~15% on average, explaining 95% of log-price variance.</a:t>
            </a:r>
          </a:p>
        </p:txBody>
      </p:sp>
      <p:sp>
        <p:nvSpPr>
          <p:cNvPr id="101" name="Block Dataset"/>
          <p:cNvSpPr>
            <a:spLocks noGrp="1"/>
          </p:cNvSpPr>
          <p:nvPr/>
        </p:nvSpPr>
        <p:spPr>
          <a:xfrm>
            <a:off x="368300" y="2476500"/>
            <a:ext cx="4064000" cy="18415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77800" tIns="152400" rIns="177800" bIns="127000" anchor="t"/>
          <a:lstStyle/>
          <a:p>
            <a:pPr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00000"/>
                </a:solidFill>
              </a:rPr>
              <a:t>DATASET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300" dirty="0">
                <a:solidFill>
                  <a:srgbClr val="595959"/>
                </a:solidFill>
              </a:rPr>
              <a:t>18,374 cleaned Moscow listings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300" dirty="0">
                <a:solidFill>
                  <a:srgbClr val="595959"/>
                </a:solidFill>
              </a:rPr>
              <a:t>12 features · target: log(Price)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300" dirty="0">
                <a:solidFill>
                  <a:srgbClr val="595959"/>
                </a:solidFill>
              </a:rPr>
              <a:t>80 / 20 train–test split</a:t>
            </a:r>
          </a:p>
        </p:txBody>
      </p:sp>
      <p:sp>
        <p:nvSpPr>
          <p:cNvPr id="102" name="Block Approach"/>
          <p:cNvSpPr>
            <a:spLocks noGrp="1"/>
          </p:cNvSpPr>
          <p:nvPr/>
        </p:nvSpPr>
        <p:spPr>
          <a:xfrm>
            <a:off x="4711700" y="2476500"/>
            <a:ext cx="4064000" cy="18415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77800" tIns="152400" rIns="177800" bIns="127000" anchor="t"/>
          <a:lstStyle/>
          <a:p>
            <a:pPr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00000"/>
                </a:solidFill>
              </a:rPr>
              <a:t>APPROACH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300" dirty="0">
                <a:solidFill>
                  <a:srgbClr val="595959"/>
                </a:solidFill>
              </a:rPr>
              <a:t>Eight models, one pipeline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300" dirty="0">
                <a:solidFill>
                  <a:srgbClr val="595959"/>
                </a:solidFill>
              </a:rPr>
              <a:t>OLS · Lasso · Ridge · Tree · RF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300" dirty="0">
                <a:solidFill>
                  <a:srgbClr val="595959"/>
                </a:solidFill>
              </a:rPr>
              <a:t>AdaBoost · MLP · Stacking</a:t>
            </a:r>
          </a:p>
        </p:txBody>
      </p:sp>
      <p:sp>
        <p:nvSpPr>
          <p:cNvPr id="103" name="Block Winner"/>
          <p:cNvSpPr>
            <a:spLocks noGrp="1"/>
          </p:cNvSpPr>
          <p:nvPr/>
        </p:nvSpPr>
        <p:spPr>
          <a:xfrm>
            <a:off x="368300" y="4572000"/>
            <a:ext cx="4064000" cy="18415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77800" tIns="152400" rIns="177800" bIns="127000" anchor="t"/>
          <a:lstStyle/>
          <a:p>
            <a:pPr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00000"/>
                </a:solidFill>
              </a:rPr>
              <a:t>WINNER — RANDOM FOREST</a:t>
            </a:r>
          </a:p>
          <a:p>
            <a:pPr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1F1F"/>
                </a:solidFill>
              </a:rPr>
              <a:t>Test R² 0.946  ·  MAPE 15.1%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300" dirty="0">
                <a:solidFill>
                  <a:srgbClr val="595959"/>
                </a:solidFill>
              </a:rPr>
              <a:t>MAE ≈ ₽11.6M · RMSE(log) 0.249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300" dirty="0">
                <a:solidFill>
                  <a:srgbClr val="595959"/>
                </a:solidFill>
              </a:rPr>
              <a:t>Ties stacking; simpler to deploy</a:t>
            </a:r>
          </a:p>
        </p:txBody>
      </p:sp>
      <p:sp>
        <p:nvSpPr>
          <p:cNvPr id="104" name="Block Drivers"/>
          <p:cNvSpPr>
            <a:spLocks noGrp="1"/>
          </p:cNvSpPr>
          <p:nvPr/>
        </p:nvSpPr>
        <p:spPr>
          <a:xfrm>
            <a:off x="4711700" y="4572000"/>
            <a:ext cx="4064000" cy="18415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177800" tIns="152400" rIns="177800" bIns="127000" anchor="t"/>
          <a:lstStyle/>
          <a:p>
            <a:pPr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00000"/>
                </a:solidFill>
              </a:rPr>
              <a:t>WHAT DRIVES PRICE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300" dirty="0">
                <a:solidFill>
                  <a:srgbClr val="595959"/>
                </a:solidFill>
              </a:rPr>
              <a:t>Area dominates (perm. imp. 0.36)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300" dirty="0">
                <a:solidFill>
                  <a:srgbClr val="595959"/>
                </a:solidFill>
              </a:rPr>
              <a:t>Designer renovation: +0.65 log-₽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300" dirty="0">
                <a:solidFill>
                  <a:srgbClr val="595959"/>
                </a:solidFill>
              </a:rPr>
              <a:t>Moscow city vs oblast: +0.43</a:t>
            </a:r>
          </a:p>
        </p:txBody>
      </p:sp>
    </p:spTree>
    <p:extLst>
      <p:ext uri="{BB962C8B-B14F-4D97-AF65-F5344CB8AC3E}">
        <p14:creationId xmlns:p14="http://schemas.microsoft.com/office/powerpoint/2010/main" val="1302819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0996A-FF78-85DC-AF7F-E94C0A419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Moscow housing?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C0CA8-564E-D4BD-8C11-5DBCBC6F000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14425" y="1840448"/>
            <a:ext cx="3810000" cy="4826000"/>
          </a:xfrm>
        </p:spPr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800" dirty="0"/>
              <a:t>One of Europe's most expensive housing markets</a:t>
            </a:r>
          </a:p>
          <a:p>
            <a:pPr marL="228600" indent="-228600">
              <a:buFont typeface="Arial"/>
              <a:buChar char="•"/>
            </a:pPr>
            <a:r>
              <a:rPr lang="en-US" sz="1800" dirty="0"/>
              <a:t>Prices swing by tens of millions of rubles for similar listings</a:t>
            </a:r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800" b="1" dirty="0"/>
              <a:t>Research questions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How accurately can we predict prices?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Which features do buyers prioritize?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Which features matter most for prediction?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756F55-EB1A-1E67-875B-505BD00709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70615"/>
            <a:ext cx="1848263" cy="295466"/>
          </a:xfrm>
        </p:spPr>
        <p:txBody>
          <a:bodyPr>
            <a:spAutoFit/>
          </a:bodyPr>
          <a:lstStyle/>
          <a:p>
            <a:r>
              <a:rPr lang="en-US" sz="1000" dirty="0"/>
              <a:t>Slide 1 of 15  |  Motivation</a:t>
            </a:r>
          </a:p>
        </p:txBody>
      </p:sp>
      <p:pic>
        <p:nvPicPr>
          <p:cNvPr id="1028" name="Picture 4" descr="10 things about Russian homes that will shock you - Russia Beyond">
            <a:extLst>
              <a:ext uri="{FF2B5EF4-FFF2-40B4-BE49-F238E27FC236}">
                <a16:creationId xmlns:a16="http://schemas.microsoft.com/office/drawing/2014/main" id="{7F51B9B3-9B14-A4AF-DC79-4652CA0DE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6023" y="1840448"/>
            <a:ext cx="3627272" cy="3662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1622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1D136-262D-968E-9DEC-2B6CFB6C3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Moscow apartment listings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35F4A-D712-5361-555A-DD811F842E9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/>
              <a:t>Source</a:t>
            </a:r>
          </a:p>
          <a:p>
            <a:pPr>
              <a:buNone/>
            </a:pPr>
            <a:r>
              <a:rPr lang="en-US" sz="1600" dirty="0"/>
              <a:t>Kaggle, Moscow apartments</a:t>
            </a:r>
          </a:p>
          <a:p>
            <a:pPr>
              <a:buNone/>
            </a:pPr>
            <a:endParaRPr lang="en-US" sz="1200"/>
          </a:p>
          <a:p>
            <a:pPr>
              <a:buNone/>
            </a:pPr>
            <a:r>
              <a:rPr lang="en-US" sz="1800" b="1" dirty="0"/>
              <a:t>Size</a:t>
            </a:r>
          </a:p>
          <a:p>
            <a:pPr>
              <a:buNone/>
            </a:pPr>
            <a:r>
              <a:rPr lang="en-US" sz="1600" dirty="0"/>
              <a:t>22,676 listings × 12 columns</a:t>
            </a:r>
          </a:p>
          <a:p>
            <a:pPr>
              <a:buNone/>
            </a:pPr>
            <a:endParaRPr lang="en-US" sz="1200"/>
          </a:p>
          <a:p>
            <a:pPr>
              <a:buNone/>
            </a:pPr>
            <a:r>
              <a:rPr lang="en-US" sz="1800" b="1" dirty="0"/>
              <a:t>Target</a:t>
            </a:r>
          </a:p>
          <a:p>
            <a:pPr>
              <a:buNone/>
            </a:pPr>
            <a:r>
              <a:rPr lang="en-US" sz="1600" dirty="0"/>
              <a:t>Price in Russian rubles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655EFF-2207-E6C3-DA6A-F00FF8BC4B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" y="6565347"/>
            <a:ext cx="1894749" cy="295466"/>
          </a:xfrm>
        </p:spPr>
        <p:txBody>
          <a:bodyPr>
            <a:spAutoFit/>
          </a:bodyPr>
          <a:lstStyle/>
          <a:p>
            <a:r>
              <a:rPr lang="en-US" sz="1000" dirty="0"/>
              <a:t>Slide 2 of 15  |  Data source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FE983E-B0AB-E282-9CC8-1947C32A97C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/>
              <a:t>7 numeric features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Area, Living area, Kitchen area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Rooms, Floor, Number of floors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Minutes to metro</a:t>
            </a:r>
          </a:p>
          <a:p>
            <a:pPr>
              <a:buNone/>
            </a:pPr>
            <a:endParaRPr lang="en-US" sz="1200"/>
          </a:p>
          <a:p>
            <a:pPr>
              <a:buNone/>
            </a:pPr>
            <a:r>
              <a:rPr lang="en-US" sz="1800" b="1" dirty="0"/>
              <a:t>4 categorical features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Apartment type (2 values)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Region (Moscow / oblast)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Renovation (4 levels)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Metro station (317, dropped)</a:t>
            </a:r>
          </a:p>
        </p:txBody>
      </p:sp>
    </p:spTree>
    <p:extLst>
      <p:ext uri="{BB962C8B-B14F-4D97-AF65-F5344CB8AC3E}">
        <p14:creationId xmlns:p14="http://schemas.microsoft.com/office/powerpoint/2010/main" val="3980512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EEB96-967E-F67B-449E-1796DB4E1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Two-pass cleaning, 18% of rows dropped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672F43-30E1-B71A-D4EB-26261947A4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70615"/>
            <a:ext cx="1979709" cy="295466"/>
          </a:xfrm>
        </p:spPr>
        <p:txBody>
          <a:bodyPr>
            <a:spAutoFit/>
          </a:bodyPr>
          <a:lstStyle/>
          <a:p>
            <a:r>
              <a:rPr lang="en-US" sz="1000" dirty="0"/>
              <a:t>Slide 3 of 15  |  Data cleaning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062C3B-660C-4AC8-B0BA-1080F1D3ED6F}"/>
              </a:ext>
            </a:extLst>
          </p:cNvPr>
          <p:cNvSpPr/>
          <p:nvPr/>
        </p:nvSpPr>
        <p:spPr>
          <a:xfrm>
            <a:off x="508000" y="2667000"/>
            <a:ext cx="2032000" cy="1270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1F1F1F"/>
                </a:solidFill>
              </a:rPr>
              <a:t>22,676
raw listings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9FD8609-EDF3-4FB9-A975-4B5F54E63A00}"/>
              </a:ext>
            </a:extLst>
          </p:cNvPr>
          <p:cNvSpPr/>
          <p:nvPr/>
        </p:nvSpPr>
        <p:spPr>
          <a:xfrm>
            <a:off x="2667000" y="3111500"/>
            <a:ext cx="508000" cy="381000"/>
          </a:xfrm>
          <a:prstGeom prst="rightArrow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A0FDFA-1E4A-43DB-831B-1EED84196FE3}"/>
              </a:ext>
            </a:extLst>
          </p:cNvPr>
          <p:cNvSpPr/>
          <p:nvPr/>
        </p:nvSpPr>
        <p:spPr>
          <a:xfrm>
            <a:off x="3302000" y="2667000"/>
            <a:ext cx="2032000" cy="1270000"/>
          </a:xfrm>
          <a:prstGeom prst="rect">
            <a:avLst/>
          </a:prstGeom>
          <a:solidFill>
            <a:srgbClr val="BDD7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b="1" dirty="0">
                <a:solidFill>
                  <a:srgbClr val="1F1F1F"/>
                </a:solidFill>
              </a:rPr>
              <a:t>20,825
after deduplication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811E138-8459-4885-8C25-5681D2AC4498}"/>
              </a:ext>
            </a:extLst>
          </p:cNvPr>
          <p:cNvSpPr/>
          <p:nvPr/>
        </p:nvSpPr>
        <p:spPr>
          <a:xfrm>
            <a:off x="5461000" y="3111500"/>
            <a:ext cx="508000" cy="381000"/>
          </a:xfrm>
          <a:prstGeom prst="rightArrow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DA70F5-E601-4745-BA9E-81BCA4083839}"/>
              </a:ext>
            </a:extLst>
          </p:cNvPr>
          <p:cNvSpPr/>
          <p:nvPr/>
        </p:nvSpPr>
        <p:spPr>
          <a:xfrm>
            <a:off x="6096000" y="2667000"/>
            <a:ext cx="2032000" cy="12700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18,374
clean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7F7669-B4BD-4689-882B-C5275D229772}"/>
              </a:ext>
            </a:extLst>
          </p:cNvPr>
          <p:cNvSpPr txBox="1"/>
          <p:nvPr/>
        </p:nvSpPr>
        <p:spPr>
          <a:xfrm>
            <a:off x="2476500" y="2349500"/>
            <a:ext cx="889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200" b="1">
                <a:solidFill>
                  <a:srgbClr val="595959"/>
                </a:solidFill>
              </a:rPr>
              <a:t>− 1,851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91003C-73A1-46F3-BF33-1F8DA729DB12}"/>
              </a:ext>
            </a:extLst>
          </p:cNvPr>
          <p:cNvSpPr txBox="1"/>
          <p:nvPr/>
        </p:nvSpPr>
        <p:spPr>
          <a:xfrm>
            <a:off x="5270500" y="2349500"/>
            <a:ext cx="889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200" b="1">
                <a:solidFill>
                  <a:srgbClr val="595959"/>
                </a:solidFill>
              </a:rPr>
              <a:t>− 2,451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7D9872-658B-421D-B573-BA5351B4049F}"/>
              </a:ext>
            </a:extLst>
          </p:cNvPr>
          <p:cNvSpPr txBox="1"/>
          <p:nvPr/>
        </p:nvSpPr>
        <p:spPr>
          <a:xfrm>
            <a:off x="2549071" y="3492500"/>
            <a:ext cx="88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595959"/>
                </a:solidFill>
              </a:rPr>
              <a:t>duplicates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7D2912-DF25-48F1-8C6E-494076C323DB}"/>
              </a:ext>
            </a:extLst>
          </p:cNvPr>
          <p:cNvSpPr txBox="1"/>
          <p:nvPr/>
        </p:nvSpPr>
        <p:spPr>
          <a:xfrm>
            <a:off x="5442857" y="3542998"/>
            <a:ext cx="88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dirty="0">
                <a:solidFill>
                  <a:srgbClr val="595959"/>
                </a:solidFill>
              </a:rPr>
              <a:t>invalid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924CAE-70D5-4388-AC24-1E4D37A904D6}"/>
              </a:ext>
            </a:extLst>
          </p:cNvPr>
          <p:cNvSpPr txBox="1"/>
          <p:nvPr/>
        </p:nvSpPr>
        <p:spPr>
          <a:xfrm>
            <a:off x="508000" y="4318000"/>
            <a:ext cx="812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Sanity checks removed: Floor &gt; Building floors (1,502) · Kitchen &gt; Total (1) · Living + Kitchen &gt; Total (956)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980D41-B082-41E3-98D6-BDDEB883D524}"/>
              </a:ext>
            </a:extLst>
          </p:cNvPr>
          <p:cNvSpPr txBox="1"/>
          <p:nvPr/>
        </p:nvSpPr>
        <p:spPr>
          <a:xfrm>
            <a:off x="508000" y="4699000"/>
            <a:ext cx="812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404040"/>
                </a:solidFill>
              </a:rPr>
              <a:t>No missing values in the raw data.</a:t>
            </a:r>
          </a:p>
        </p:txBody>
      </p:sp>
    </p:spTree>
    <p:extLst>
      <p:ext uri="{BB962C8B-B14F-4D97-AF65-F5344CB8AC3E}">
        <p14:creationId xmlns:p14="http://schemas.microsoft.com/office/powerpoint/2010/main" val="422421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3AF2A-1A2E-FFB8-06FB-EF7A71BC3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transform tames a severe right skew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F11544-92AC-64BB-003A-DFE27CF82F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" y="6565347"/>
            <a:ext cx="2053447" cy="295466"/>
          </a:xfrm>
        </p:spPr>
        <p:txBody>
          <a:bodyPr>
            <a:spAutoFit/>
          </a:bodyPr>
          <a:lstStyle/>
          <a:p>
            <a:r>
              <a:rPr lang="en-US" sz="1000" dirty="0"/>
              <a:t>Slide 4 of 15  |  Target variable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74E7D6-9752-45A4-B482-ECF9FE613B53}"/>
              </a:ext>
            </a:extLst>
          </p:cNvPr>
          <p:cNvSpPr txBox="1"/>
          <p:nvPr/>
        </p:nvSpPr>
        <p:spPr>
          <a:xfrm>
            <a:off x="635000" y="17145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F1F1F"/>
                </a:solidFill>
              </a:rPr>
              <a:t>Raw Price (skew 7.63)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234244-98FB-49C6-BA72-A29BE039CA20}"/>
              </a:ext>
            </a:extLst>
          </p:cNvPr>
          <p:cNvSpPr txBox="1"/>
          <p:nvPr/>
        </p:nvSpPr>
        <p:spPr>
          <a:xfrm>
            <a:off x="4953000" y="17145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C00000"/>
                </a:solidFill>
              </a:rPr>
              <a:t>Log Price (skew 1.13)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F7443D-3CF4-4DAE-A415-0C1DA4D729BE}"/>
              </a:ext>
            </a:extLst>
          </p:cNvPr>
          <p:cNvSpPr/>
          <p:nvPr/>
        </p:nvSpPr>
        <p:spPr>
          <a:xfrm>
            <a:off x="635000" y="2095500"/>
            <a:ext cx="3556000" cy="2794000"/>
          </a:xfrm>
          <a:prstGeom prst="rect">
            <a:avLst/>
          </a:prstGeom>
          <a:solidFill>
            <a:srgbClr val="F2F2F2"/>
          </a:solidFill>
          <a:ln w="12700" cap="flat" cmpd="sng" algn="ctr">
            <a:solidFill>
              <a:srgbClr val="BFBFB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200" i="1">
                <a:solidFill>
                  <a:srgbClr val="808080"/>
                </a:solidFill>
              </a:rPr>
              <a:t>[ Histogram: raw Price 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E07C41-FBE3-4FD0-9651-8C139D7E0E7F}"/>
              </a:ext>
            </a:extLst>
          </p:cNvPr>
          <p:cNvSpPr/>
          <p:nvPr/>
        </p:nvSpPr>
        <p:spPr>
          <a:xfrm>
            <a:off x="4953000" y="2095500"/>
            <a:ext cx="3556000" cy="2794000"/>
          </a:xfrm>
          <a:prstGeom prst="rect">
            <a:avLst/>
          </a:prstGeom>
          <a:solidFill>
            <a:srgbClr val="F2F2F2"/>
          </a:solidFill>
          <a:ln w="12700" cap="flat" cmpd="sng" algn="ctr">
            <a:solidFill>
              <a:srgbClr val="BFBFB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200" i="1">
                <a:solidFill>
                  <a:srgbClr val="808080"/>
                </a:solidFill>
              </a:rPr>
              <a:t>[ Histogram: Log_Price ]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9134F6B-23FE-4DBD-838D-7C5E8844B613}"/>
              </a:ext>
            </a:extLst>
          </p:cNvPr>
          <p:cNvSpPr/>
          <p:nvPr/>
        </p:nvSpPr>
        <p:spPr>
          <a:xfrm>
            <a:off x="4254500" y="3302000"/>
            <a:ext cx="635000" cy="381000"/>
          </a:xfrm>
          <a:prstGeom prst="rightArrow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log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CF1DAA-C129-47E1-9E33-419D74133403}"/>
              </a:ext>
            </a:extLst>
          </p:cNvPr>
          <p:cNvSpPr txBox="1"/>
          <p:nvPr/>
        </p:nvSpPr>
        <p:spPr>
          <a:xfrm>
            <a:off x="635000" y="5080000"/>
            <a:ext cx="7874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04040"/>
                </a:solidFill>
              </a:rPr>
              <a:t>Every model predicts Log_Price; the log transform makes the target workable for linear and neural models.</a:t>
            </a:r>
          </a:p>
        </p:txBody>
      </p:sp>
    </p:spTree>
    <p:extLst>
      <p:ext uri="{BB962C8B-B14F-4D97-AF65-F5344CB8AC3E}">
        <p14:creationId xmlns:p14="http://schemas.microsoft.com/office/powerpoint/2010/main" val="2450538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4EBEA-E177-C600-E2B5-4284552DD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 drives price, and correlates with itself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C6CB3-6D68-6FE2-B8AC-82F5BFE496B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buNone/>
            </a:pPr>
            <a:r>
              <a:rPr lang="en-US" sz="1600" b="1" dirty="0"/>
              <a:t>Top correlations with Log(Price)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Area:  </a:t>
            </a:r>
            <a:r>
              <a:rPr lang="en-US" sz="1400" b="1" dirty="0">
                <a:solidFill>
                  <a:srgbClr val="C00000"/>
                </a:solidFill>
              </a:rPr>
              <a:t>0.80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Living area:  0.74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Number of rooms:  0.67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Kitchen area:  0.63</a:t>
            </a:r>
          </a:p>
          <a:p>
            <a:pPr>
              <a:buNone/>
            </a:pPr>
            <a:endParaRPr lang="en-US" sz="1000"/>
          </a:p>
          <a:p>
            <a:pPr>
              <a:buNone/>
            </a:pPr>
            <a:r>
              <a:rPr lang="en-US" sz="1400" b="1" dirty="0"/>
              <a:t>Weak predictors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/>
              <a:t>Floor 0.11, Floors 0.08, Metro mins −0.08</a:t>
            </a:r>
          </a:p>
          <a:p>
            <a:pPr>
              <a:buNone/>
            </a:pPr>
            <a:endParaRPr lang="en-US" sz="1000"/>
          </a:p>
          <a:p>
            <a:pPr>
              <a:buNone/>
            </a:pPr>
            <a:r>
              <a:rPr lang="en-US" sz="1400" b="1" dirty="0">
                <a:solidFill>
                  <a:srgbClr val="C00000"/>
                </a:solidFill>
              </a:rPr>
              <a:t>⚠  Area × Living area = 0.91</a:t>
            </a:r>
          </a:p>
          <a:p>
            <a:pPr>
              <a:buNone/>
            </a:pPr>
            <a:r>
              <a:rPr lang="en-US" sz="1200" i="1" dirty="0"/>
              <a:t>multicollinearity risk for linear models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8BCE9E-D634-6F17-5ACB-214632DB52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" y="6565347"/>
            <a:ext cx="1910779" cy="295466"/>
          </a:xfrm>
        </p:spPr>
        <p:txBody>
          <a:bodyPr>
            <a:spAutoFit/>
          </a:bodyPr>
          <a:lstStyle/>
          <a:p>
            <a:r>
              <a:rPr lang="en-US" sz="1000" dirty="0"/>
              <a:t>Slide 5 of 15  |  Correlations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477499-5AF0-4484-AEEE-8B5DE4DBC1BD}"/>
              </a:ext>
            </a:extLst>
          </p:cNvPr>
          <p:cNvSpPr/>
          <p:nvPr/>
        </p:nvSpPr>
        <p:spPr>
          <a:xfrm>
            <a:off x="4826000" y="1841500"/>
            <a:ext cx="3683000" cy="3302000"/>
          </a:xfrm>
          <a:prstGeom prst="rect">
            <a:avLst/>
          </a:prstGeom>
          <a:solidFill>
            <a:srgbClr val="F2F2F2"/>
          </a:solidFill>
          <a:ln w="12700" cap="flat" cmpd="sng" algn="ctr">
            <a:solidFill>
              <a:srgbClr val="BFBFB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200" i="1">
                <a:solidFill>
                  <a:srgbClr val="808080"/>
                </a:solidFill>
              </a:rPr>
              <a:t>[ Correlation heatmap
vs Log(Price) ]</a:t>
            </a:r>
          </a:p>
        </p:txBody>
      </p:sp>
    </p:spTree>
    <p:extLst>
      <p:ext uri="{BB962C8B-B14F-4D97-AF65-F5344CB8AC3E}">
        <p14:creationId xmlns:p14="http://schemas.microsoft.com/office/powerpoint/2010/main" val="2496505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341BC-E25A-05ED-05F4-4E1EF5FA1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Renovation and region also move price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EAD72-66F3-FB62-81C7-4A47A9A917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" y="6565347"/>
            <a:ext cx="2244204" cy="295466"/>
          </a:xfrm>
        </p:spPr>
        <p:txBody>
          <a:bodyPr>
            <a:spAutoFit/>
          </a:bodyPr>
          <a:lstStyle/>
          <a:p>
            <a:r>
              <a:rPr lang="en-US" sz="1000" dirty="0"/>
              <a:t>Slide 6 of 15  |  Categorical drivers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288026-CB5B-4DB2-80F9-D563114468D1}"/>
              </a:ext>
            </a:extLst>
          </p:cNvPr>
          <p:cNvSpPr txBox="1"/>
          <p:nvPr/>
        </p:nvSpPr>
        <p:spPr>
          <a:xfrm>
            <a:off x="635000" y="17145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F1F1F"/>
                </a:solidFill>
              </a:rPr>
              <a:t>Renovation → Designer premium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E74898-6F89-4B36-B4B1-41DB5F5FCE8C}"/>
              </a:ext>
            </a:extLst>
          </p:cNvPr>
          <p:cNvSpPr/>
          <p:nvPr/>
        </p:nvSpPr>
        <p:spPr>
          <a:xfrm>
            <a:off x="635000" y="2095500"/>
            <a:ext cx="3556000" cy="2794000"/>
          </a:xfrm>
          <a:prstGeom prst="rect">
            <a:avLst/>
          </a:prstGeom>
          <a:solidFill>
            <a:srgbClr val="F2F2F2"/>
          </a:solidFill>
          <a:ln w="12700" cap="flat" cmpd="sng" algn="ctr">
            <a:solidFill>
              <a:srgbClr val="BFBFB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200" i="1">
                <a:solidFill>
                  <a:srgbClr val="808080"/>
                </a:solidFill>
              </a:rPr>
              <a:t>[ Box plot: Log_Price by Renovation
(Without · Cosmetic · European · Designer) 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B29C00-802A-40FA-99E3-0D5D6C0E70EC}"/>
              </a:ext>
            </a:extLst>
          </p:cNvPr>
          <p:cNvSpPr txBox="1"/>
          <p:nvPr/>
        </p:nvSpPr>
        <p:spPr>
          <a:xfrm>
            <a:off x="4953000" y="17145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C00000"/>
                </a:solidFill>
              </a:rPr>
              <a:t>Region → Moscow city premium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5297E4-FA82-4259-AF39-CD3FD52E19E5}"/>
              </a:ext>
            </a:extLst>
          </p:cNvPr>
          <p:cNvSpPr/>
          <p:nvPr/>
        </p:nvSpPr>
        <p:spPr>
          <a:xfrm>
            <a:off x="4953000" y="2095500"/>
            <a:ext cx="3556000" cy="2794000"/>
          </a:xfrm>
          <a:prstGeom prst="rect">
            <a:avLst/>
          </a:prstGeom>
          <a:solidFill>
            <a:srgbClr val="F2F2F2"/>
          </a:solidFill>
          <a:ln w="12700" cap="flat" cmpd="sng" algn="ctr">
            <a:solidFill>
              <a:srgbClr val="BFBFB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200" i="1">
                <a:solidFill>
                  <a:srgbClr val="808080"/>
                </a:solidFill>
              </a:rPr>
              <a:t>[ Box plot: Log_Price by Region
(Moscow · Moscow oblast) 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E23FA4-490E-4071-AC5D-0EBE21F8AB3F}"/>
              </a:ext>
            </a:extLst>
          </p:cNvPr>
          <p:cNvSpPr txBox="1"/>
          <p:nvPr/>
        </p:nvSpPr>
        <p:spPr>
          <a:xfrm>
            <a:off x="635000" y="5080000"/>
            <a:ext cx="7874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404040"/>
                </a:solidFill>
              </a:rPr>
              <a:t>Also: New buildings slightly above Secondary; smaller effect than Renovation or Region.</a:t>
            </a:r>
          </a:p>
        </p:txBody>
      </p:sp>
    </p:spTree>
    <p:extLst>
      <p:ext uri="{BB962C8B-B14F-4D97-AF65-F5344CB8AC3E}">
        <p14:creationId xmlns:p14="http://schemas.microsoft.com/office/powerpoint/2010/main" val="2884279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77B43-773C-51D6-35DC-D6DB2ECC6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pipeline, eight models, same split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AE03A-F537-1CFB-9D1C-DA8DD23F29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70615"/>
            <a:ext cx="1974900" cy="295466"/>
          </a:xfrm>
        </p:spPr>
        <p:txBody>
          <a:bodyPr>
            <a:spAutoFit/>
          </a:bodyPr>
          <a:lstStyle/>
          <a:p>
            <a:r>
              <a:rPr lang="en-US" sz="1000" dirty="0"/>
              <a:t>Slide 7 of 15  |  Methodology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1821324-EA1E-408A-8805-97B7B1D3F9F9}"/>
              </a:ext>
            </a:extLst>
          </p:cNvPr>
          <p:cNvSpPr/>
          <p:nvPr/>
        </p:nvSpPr>
        <p:spPr>
          <a:xfrm>
            <a:off x="381000" y="2286000"/>
            <a:ext cx="1651000" cy="1016000"/>
          </a:xfrm>
          <a:prstGeom prst="round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F1F1F"/>
                </a:solidFill>
              </a:rPr>
              <a:t>11 inputs
after dropping
Metro station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372DE74-1F98-440F-A68E-542A6E39A11F}"/>
              </a:ext>
            </a:extLst>
          </p:cNvPr>
          <p:cNvSpPr/>
          <p:nvPr/>
        </p:nvSpPr>
        <p:spPr>
          <a:xfrm>
            <a:off x="2095500" y="2667000"/>
            <a:ext cx="381000" cy="254000"/>
          </a:xfrm>
          <a:prstGeom prst="rightArrow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719A9F-7F31-4B10-B777-BC95EBBDC6BE}"/>
              </a:ext>
            </a:extLst>
          </p:cNvPr>
          <p:cNvSpPr/>
          <p:nvPr/>
        </p:nvSpPr>
        <p:spPr>
          <a:xfrm>
            <a:off x="2540000" y="2032000"/>
            <a:ext cx="35560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BFBFB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A808B7-81CC-4DE5-BEA4-A146E5338B63}"/>
              </a:ext>
            </a:extLst>
          </p:cNvPr>
          <p:cNvSpPr txBox="1"/>
          <p:nvPr/>
        </p:nvSpPr>
        <p:spPr>
          <a:xfrm>
            <a:off x="2540000" y="2133600"/>
            <a:ext cx="355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1F1F1F"/>
                </a:solidFill>
              </a:rPr>
              <a:t>ColumnTransformer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9BFE47-A658-48C4-88AB-271BCED09715}"/>
              </a:ext>
            </a:extLst>
          </p:cNvPr>
          <p:cNvSpPr/>
          <p:nvPr/>
        </p:nvSpPr>
        <p:spPr>
          <a:xfrm>
            <a:off x="2692400" y="2540000"/>
            <a:ext cx="1587500" cy="952500"/>
          </a:xfrm>
          <a:prstGeom prst="roundRect">
            <a:avLst/>
          </a:prstGeom>
          <a:solidFill>
            <a:srgbClr val="BDD7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1F1F1F"/>
                </a:solidFill>
              </a:rPr>
              <a:t>StandardScaler
7 numeric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F539BC-08FB-474A-97C2-1733A5B3C0F4}"/>
              </a:ext>
            </a:extLst>
          </p:cNvPr>
          <p:cNvSpPr/>
          <p:nvPr/>
        </p:nvSpPr>
        <p:spPr>
          <a:xfrm>
            <a:off x="4381500" y="2540000"/>
            <a:ext cx="1587500" cy="952500"/>
          </a:xfrm>
          <a:prstGeom prst="roundRect">
            <a:avLst/>
          </a:prstGeom>
          <a:solidFill>
            <a:srgbClr val="FFE6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1F1F1F"/>
                </a:solidFill>
              </a:rPr>
              <a:t>OneHot drop_first
5 dummies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70B6A57-BF55-4BB5-AACA-3F67B0E46A21}"/>
              </a:ext>
            </a:extLst>
          </p:cNvPr>
          <p:cNvSpPr/>
          <p:nvPr/>
        </p:nvSpPr>
        <p:spPr>
          <a:xfrm>
            <a:off x="6159500" y="2667000"/>
            <a:ext cx="381000" cy="254000"/>
          </a:xfrm>
          <a:prstGeom prst="rightArrow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BA36129-01BF-43B9-A83A-8B5054824F82}"/>
              </a:ext>
            </a:extLst>
          </p:cNvPr>
          <p:cNvSpPr/>
          <p:nvPr/>
        </p:nvSpPr>
        <p:spPr>
          <a:xfrm>
            <a:off x="6604000" y="2286000"/>
            <a:ext cx="1905000" cy="1016000"/>
          </a:xfrm>
          <a:prstGeom prst="round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12 features
into every model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250284-E625-4A5B-961A-2A8A6ACC9D9E}"/>
              </a:ext>
            </a:extLst>
          </p:cNvPr>
          <p:cNvSpPr txBox="1"/>
          <p:nvPr/>
        </p:nvSpPr>
        <p:spPr>
          <a:xfrm>
            <a:off x="381000" y="39370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C00000"/>
                </a:solidFill>
              </a:rPr>
              <a:t>80 / 20 split · random_state = 42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500436-7500-4E65-B205-A40F94D7833B}"/>
              </a:ext>
            </a:extLst>
          </p:cNvPr>
          <p:cNvSpPr txBox="1"/>
          <p:nvPr/>
        </p:nvSpPr>
        <p:spPr>
          <a:xfrm>
            <a:off x="381000" y="4216400"/>
            <a:ext cx="381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404040"/>
                </a:solidFill>
              </a:rPr>
              <a:t>14,699 train  |  3,675 test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E11924-19FA-41AE-9E82-A066E02CD1EE}"/>
              </a:ext>
            </a:extLst>
          </p:cNvPr>
          <p:cNvSpPr txBox="1"/>
          <p:nvPr/>
        </p:nvSpPr>
        <p:spPr>
          <a:xfrm>
            <a:off x="4572000" y="3937000"/>
            <a:ext cx="393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C00000"/>
                </a:solidFill>
              </a:rPr>
              <a:t>Metrics reported for every model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4A0EA1-780B-4AF9-854F-CAD12B0983C8}"/>
              </a:ext>
            </a:extLst>
          </p:cNvPr>
          <p:cNvSpPr txBox="1"/>
          <p:nvPr/>
        </p:nvSpPr>
        <p:spPr>
          <a:xfrm>
            <a:off x="4572000" y="4216400"/>
            <a:ext cx="393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404040"/>
                </a:solidFill>
              </a:rPr>
              <a:t>Train &amp; Test R²  ·  RMSE (log)  ·  MAE (₽)  ·  MAPE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ACB759-5510-4593-A27B-E75954672C25}"/>
              </a:ext>
            </a:extLst>
          </p:cNvPr>
          <p:cNvSpPr txBox="1"/>
          <p:nvPr/>
        </p:nvSpPr>
        <p:spPr>
          <a:xfrm>
            <a:off x="381000" y="4826000"/>
            <a:ext cx="8128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1F1F1F"/>
                </a:solidFill>
              </a:rPr>
              <a:t>Same pipeline, same 12 features for every model; results are directly comparable.</a:t>
            </a:r>
          </a:p>
        </p:txBody>
      </p:sp>
    </p:spTree>
    <p:extLst>
      <p:ext uri="{BB962C8B-B14F-4D97-AF65-F5344CB8AC3E}">
        <p14:creationId xmlns:p14="http://schemas.microsoft.com/office/powerpoint/2010/main" val="1903599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84350-6FEF-129C-5FE2-DE06F8C2D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baselines: R² ≈ 0.87, MAPE ≈ 28%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A8C452-8527-64E1-37F5-5B5A186B29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70615"/>
            <a:ext cx="2224968" cy="295466"/>
          </a:xfrm>
        </p:spPr>
        <p:txBody>
          <a:bodyPr>
            <a:spAutoFit/>
          </a:bodyPr>
          <a:lstStyle/>
          <a:p>
            <a:r>
              <a:rPr lang="en-US" sz="1000" dirty="0"/>
              <a:t>Slide 8 of 15  |  OLS · Lasso · Ridge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7A47BC-8C5F-4A97-AA05-3B01ED2BECA5}"/>
              </a:ext>
            </a:extLst>
          </p:cNvPr>
          <p:cNvSpPr/>
          <p:nvPr/>
        </p:nvSpPr>
        <p:spPr>
          <a:xfrm>
            <a:off x="5969000" y="1905000"/>
            <a:ext cx="2667000" cy="1905000"/>
          </a:xfrm>
          <a:prstGeom prst="rect">
            <a:avLst/>
          </a:prstGeom>
          <a:solidFill>
            <a:srgbClr val="F7F7F7"/>
          </a:solidFill>
          <a:ln w="25400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F7EEA2-1136-4DF2-90DB-2DC1AEA5911C}"/>
              </a:ext>
            </a:extLst>
          </p:cNvPr>
          <p:cNvSpPr txBox="1"/>
          <p:nvPr/>
        </p:nvSpPr>
        <p:spPr>
          <a:xfrm>
            <a:off x="6070600" y="1981200"/>
            <a:ext cx="2463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C00000"/>
                </a:solidFill>
              </a:rPr>
              <a:t>All three agree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BAA974-6AE3-4DD3-88AB-8EFFCE2CD9E6}"/>
              </a:ext>
            </a:extLst>
          </p:cNvPr>
          <p:cNvSpPr txBox="1"/>
          <p:nvPr/>
        </p:nvSpPr>
        <p:spPr>
          <a:xfrm>
            <a:off x="6070600" y="2311400"/>
            <a:ext cx="2463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1F1F"/>
                </a:solidFill>
              </a:rPr>
              <a:t>Test R²:  0.869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459633-2347-4A50-AA9C-0A66524FA421}"/>
              </a:ext>
            </a:extLst>
          </p:cNvPr>
          <p:cNvSpPr txBox="1"/>
          <p:nvPr/>
        </p:nvSpPr>
        <p:spPr>
          <a:xfrm>
            <a:off x="6070600" y="2590800"/>
            <a:ext cx="2463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1F1F"/>
                </a:solidFill>
              </a:rPr>
              <a:t>RMSE log:  0.389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5A8189-AAC1-43F7-9B38-FC518248E8DD}"/>
              </a:ext>
            </a:extLst>
          </p:cNvPr>
          <p:cNvSpPr txBox="1"/>
          <p:nvPr/>
        </p:nvSpPr>
        <p:spPr>
          <a:xfrm>
            <a:off x="6070600" y="2870200"/>
            <a:ext cx="2463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1F1F"/>
                </a:solidFill>
              </a:rPr>
              <a:t>MAPE:  28.4%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291070-1158-4628-8FB0-5FDFAB0DFCBB}"/>
              </a:ext>
            </a:extLst>
          </p:cNvPr>
          <p:cNvSpPr txBox="1"/>
          <p:nvPr/>
        </p:nvSpPr>
        <p:spPr>
          <a:xfrm>
            <a:off x="6070600" y="3175000"/>
            <a:ext cx="2463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404040"/>
                </a:solidFill>
              </a:rPr>
              <a:t>Lasso zeroed: Floor only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FCB70D-9E63-4587-81D0-DD98C1BF9124}"/>
              </a:ext>
            </a:extLst>
          </p:cNvPr>
          <p:cNvSpPr txBox="1"/>
          <p:nvPr/>
        </p:nvSpPr>
        <p:spPr>
          <a:xfrm>
            <a:off x="6070600" y="3403600"/>
            <a:ext cx="2463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404040"/>
                </a:solidFill>
              </a:rPr>
              <a:t>Coefs agree within 0.02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4333E2-FDEF-437D-A57A-0D1106D06195}"/>
              </a:ext>
            </a:extLst>
          </p:cNvPr>
          <p:cNvSpPr txBox="1"/>
          <p:nvPr/>
        </p:nvSpPr>
        <p:spPr>
          <a:xfrm>
            <a:off x="381000" y="5334000"/>
            <a:ext cx="812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404040"/>
                </a:solidFill>
              </a:rPr>
              <a:t>Baseline set: regularization didn't help because multicollinearity didn't hurt much.</a:t>
            </a:r>
          </a:p>
        </p:txBody>
      </p:sp>
      <p:graphicFrame>
        <p:nvGraphicFramePr>
          <p:cNvPr id="201" name="Coefficients Chart"/>
          <p:cNvGraphicFramePr/>
          <p:nvPr/>
        </p:nvGraphicFramePr>
        <p:xfrm>
          <a:off x="381000" y="1778000"/>
          <a:ext cx="5334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05641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79BFB-C9AB-AD52-1939-5792E25C0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trees: from overfit to 0.92 test R²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1B0F1-7FD9-1B1E-B851-7226F8817D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70615"/>
            <a:ext cx="2008563" cy="295466"/>
          </a:xfrm>
        </p:spPr>
        <p:txBody>
          <a:bodyPr>
            <a:spAutoFit/>
          </a:bodyPr>
          <a:lstStyle/>
          <a:p>
            <a:r>
              <a:rPr lang="en-US" sz="1000" dirty="0"/>
              <a:t>Slide 9 of 15  |  Decision trees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C62B57-1C2C-499C-82B1-60C6923362A5}"/>
              </a:ext>
            </a:extLst>
          </p:cNvPr>
          <p:cNvSpPr/>
          <p:nvPr/>
        </p:nvSpPr>
        <p:spPr>
          <a:xfrm>
            <a:off x="5842000" y="1905000"/>
            <a:ext cx="2794000" cy="3302000"/>
          </a:xfrm>
          <a:prstGeom prst="rect">
            <a:avLst/>
          </a:prstGeom>
          <a:solidFill>
            <a:srgbClr val="F7F7F7"/>
          </a:solidFill>
          <a:ln w="25400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DC5838-C72F-4DF8-BDB7-0FAAC41F64A2}"/>
              </a:ext>
            </a:extLst>
          </p:cNvPr>
          <p:cNvSpPr txBox="1"/>
          <p:nvPr/>
        </p:nvSpPr>
        <p:spPr>
          <a:xfrm>
            <a:off x="5969000" y="20066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595959"/>
                </a:solidFill>
              </a:rPr>
              <a:t>Initial (untuned)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93E37A-1D18-46C1-822B-AB8CF590B1C5}"/>
              </a:ext>
            </a:extLst>
          </p:cNvPr>
          <p:cNvSpPr txBox="1"/>
          <p:nvPr/>
        </p:nvSpPr>
        <p:spPr>
          <a:xfrm>
            <a:off x="5969000" y="23114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404040"/>
                </a:solidFill>
              </a:rPr>
              <a:t>Train 1.00 → Test 0.887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744B83-0F6E-47BC-A6AC-790446E0B15E}"/>
              </a:ext>
            </a:extLst>
          </p:cNvPr>
          <p:cNvSpPr txBox="1"/>
          <p:nvPr/>
        </p:nvSpPr>
        <p:spPr>
          <a:xfrm>
            <a:off x="5969000" y="25400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808080"/>
                </a:solidFill>
              </a:rPr>
              <a:t>Memorized training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9CE89E-F145-4BE6-9800-4A5D779F75E1}"/>
              </a:ext>
            </a:extLst>
          </p:cNvPr>
          <p:cNvSpPr txBox="1"/>
          <p:nvPr/>
        </p:nvSpPr>
        <p:spPr>
          <a:xfrm>
            <a:off x="5969000" y="2921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C00000"/>
                </a:solidFill>
              </a:rPr>
              <a:t>Tuned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A4881F-B2FF-4385-B661-953310A415D1}"/>
              </a:ext>
            </a:extLst>
          </p:cNvPr>
          <p:cNvSpPr txBox="1"/>
          <p:nvPr/>
        </p:nvSpPr>
        <p:spPr>
          <a:xfrm>
            <a:off x="5969000" y="32258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404040"/>
                </a:solidFill>
              </a:rPr>
              <a:t>GridSearchCV 5-fold · 45 combos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4DD457-93B7-427F-AFFD-3A152000F6C6}"/>
              </a:ext>
            </a:extLst>
          </p:cNvPr>
          <p:cNvSpPr txBox="1"/>
          <p:nvPr/>
        </p:nvSpPr>
        <p:spPr>
          <a:xfrm>
            <a:off x="5969000" y="34544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1F1F1F"/>
                </a:solidFill>
              </a:rPr>
              <a:t>max_depth =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6DC419-4D5D-4AE0-8E35-29F67FE9896D}"/>
              </a:ext>
            </a:extLst>
          </p:cNvPr>
          <p:cNvSpPr txBox="1"/>
          <p:nvPr/>
        </p:nvSpPr>
        <p:spPr>
          <a:xfrm>
            <a:off x="5969000" y="36830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1F1F1F"/>
                </a:solidFill>
              </a:rPr>
              <a:t>min_samples_leaf = 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92A0E2-FB39-4B8F-BF60-22A0F8AD8426}"/>
              </a:ext>
            </a:extLst>
          </p:cNvPr>
          <p:cNvSpPr txBox="1"/>
          <p:nvPr/>
        </p:nvSpPr>
        <p:spPr>
          <a:xfrm>
            <a:off x="5969000" y="40132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C00000"/>
                </a:solidFill>
              </a:rPr>
              <a:t>Test R² = 0.9243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8BA989-82CA-4069-B8D2-C47EEFD61F67}"/>
              </a:ext>
            </a:extLst>
          </p:cNvPr>
          <p:cNvSpPr txBox="1"/>
          <p:nvPr/>
        </p:nvSpPr>
        <p:spPr>
          <a:xfrm>
            <a:off x="5969000" y="42672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404040"/>
                </a:solidFill>
              </a:rPr>
              <a:t>RMSE log = 0.296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6E09EE-770B-4D3A-9BF4-CDA1881BC5E5}"/>
              </a:ext>
            </a:extLst>
          </p:cNvPr>
          <p:cNvSpPr txBox="1"/>
          <p:nvPr/>
        </p:nvSpPr>
        <p:spPr>
          <a:xfrm>
            <a:off x="5969000" y="44958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404040"/>
                </a:solidFill>
              </a:rPr>
              <a:t>MAPE = 19.0%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53DC99-D69C-4174-8B00-23A41367A15A}"/>
              </a:ext>
            </a:extLst>
          </p:cNvPr>
          <p:cNvSpPr txBox="1"/>
          <p:nvPr/>
        </p:nvSpPr>
        <p:spPr>
          <a:xfrm>
            <a:off x="5969000" y="4826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F1F1F"/>
                </a:solidFill>
              </a:rPr>
              <a:t>MAE ≈ ₽13.1M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87F0F5-E83E-4A53-9195-7E44317E0962}"/>
              </a:ext>
            </a:extLst>
          </p:cNvPr>
          <p:cNvSpPr txBox="1"/>
          <p:nvPr/>
        </p:nvSpPr>
        <p:spPr>
          <a:xfrm>
            <a:off x="381000" y="5397500"/>
            <a:ext cx="8128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 dirty="0">
                <a:solidFill>
                  <a:srgbClr val="404040"/>
                </a:solidFill>
              </a:rPr>
              <a:t>Tuning closed the gap, the first meaningful jump over linear baselines.</a:t>
            </a:r>
          </a:p>
        </p:txBody>
      </p:sp>
      <p:graphicFrame>
        <p:nvGraphicFramePr>
          <p:cNvPr id="201" name="DT R² Chart"/>
          <p:cNvGraphicFramePr/>
          <p:nvPr/>
        </p:nvGraphicFramePr>
        <p:xfrm>
          <a:off x="381000" y="1778000"/>
          <a:ext cx="5334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76272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B5502-AFE9-F725-0945-E2BE3E6F6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Forest: our best single model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27AEA8-0F45-3EF0-A66F-482100D826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70615"/>
            <a:ext cx="2131994" cy="295466"/>
          </a:xfrm>
        </p:spPr>
        <p:txBody>
          <a:bodyPr>
            <a:spAutoFit/>
          </a:bodyPr>
          <a:lstStyle/>
          <a:p>
            <a:r>
              <a:rPr lang="en-US" sz="1000" dirty="0"/>
              <a:t>Slide 10 of 15  |  Random Forest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F46D98-3F9D-48C8-A021-A9B89D3E25B5}"/>
              </a:ext>
            </a:extLst>
          </p:cNvPr>
          <p:cNvSpPr/>
          <p:nvPr/>
        </p:nvSpPr>
        <p:spPr>
          <a:xfrm>
            <a:off x="5842000" y="1905000"/>
            <a:ext cx="2794000" cy="29210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4FFD0C-6178-4317-920A-2ADBA8C8F5C6}"/>
              </a:ext>
            </a:extLst>
          </p:cNvPr>
          <p:cNvSpPr txBox="1"/>
          <p:nvPr/>
        </p:nvSpPr>
        <p:spPr>
          <a:xfrm>
            <a:off x="5969000" y="20574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Best single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B6215B-5F3E-4AD9-AD32-5452FDD1745D}"/>
              </a:ext>
            </a:extLst>
          </p:cNvPr>
          <p:cNvSpPr txBox="1"/>
          <p:nvPr/>
        </p:nvSpPr>
        <p:spPr>
          <a:xfrm>
            <a:off x="5969000" y="2438400"/>
            <a:ext cx="254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</a:rPr>
              <a:t>0.9464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26DBFC-761E-43B4-AEC2-742D659B15D2}"/>
              </a:ext>
            </a:extLst>
          </p:cNvPr>
          <p:cNvSpPr txBox="1"/>
          <p:nvPr/>
        </p:nvSpPr>
        <p:spPr>
          <a:xfrm>
            <a:off x="5969000" y="28702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FFFFFF"/>
                </a:solidFill>
              </a:rPr>
              <a:t>Test R²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79FC60-1908-472E-AE4F-6C65B3D3470B}"/>
              </a:ext>
            </a:extLst>
          </p:cNvPr>
          <p:cNvSpPr txBox="1"/>
          <p:nvPr/>
        </p:nvSpPr>
        <p:spPr>
          <a:xfrm>
            <a:off x="5969000" y="32004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15.07%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E778F3-59E1-4EFD-8EBA-3552601ABC26}"/>
              </a:ext>
            </a:extLst>
          </p:cNvPr>
          <p:cNvSpPr txBox="1"/>
          <p:nvPr/>
        </p:nvSpPr>
        <p:spPr>
          <a:xfrm>
            <a:off x="5969000" y="35306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FFFFFF"/>
                </a:solidFill>
              </a:rPr>
              <a:t>MAPE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6E8DE9-53ED-4771-8E68-4FEBA281FC28}"/>
              </a:ext>
            </a:extLst>
          </p:cNvPr>
          <p:cNvSpPr txBox="1"/>
          <p:nvPr/>
        </p:nvSpPr>
        <p:spPr>
          <a:xfrm>
            <a:off x="5969000" y="38354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MAE ≈ ₽11.6M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49A21E-3716-45C5-8489-73FAA86BBD4E}"/>
              </a:ext>
            </a:extLst>
          </p:cNvPr>
          <p:cNvSpPr txBox="1"/>
          <p:nvPr/>
        </p:nvSpPr>
        <p:spPr>
          <a:xfrm>
            <a:off x="5969000" y="40894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FFE5E5"/>
                </a:solidFill>
              </a:rPr>
              <a:t>RMSE log = 0.2491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8505AF-41F5-42F3-A385-3905E9121991}"/>
              </a:ext>
            </a:extLst>
          </p:cNvPr>
          <p:cNvSpPr txBox="1"/>
          <p:nvPr/>
        </p:nvSpPr>
        <p:spPr>
          <a:xfrm>
            <a:off x="5969000" y="43942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300 trees · depth 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8BDD8F-545F-479B-AEF6-FF2E4A9F329F}"/>
              </a:ext>
            </a:extLst>
          </p:cNvPr>
          <p:cNvSpPr txBox="1"/>
          <p:nvPr/>
        </p:nvSpPr>
        <p:spPr>
          <a:xfrm>
            <a:off x="5969000" y="45974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00">
                <a:solidFill>
                  <a:srgbClr val="FFE5E5"/>
                </a:solidFill>
              </a:rPr>
              <a:t>RandomizedSearchCV, 20/324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F3967E-3672-4E63-B1F3-09919CEC28C3}"/>
              </a:ext>
            </a:extLst>
          </p:cNvPr>
          <p:cNvSpPr txBox="1"/>
          <p:nvPr/>
        </p:nvSpPr>
        <p:spPr>
          <a:xfrm>
            <a:off x="381000" y="5397500"/>
            <a:ext cx="8128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404040"/>
                </a:solidFill>
              </a:rPr>
              <a:t>Permutation importance: Area dominates (0.36); Apartment type and Region follow.</a:t>
            </a:r>
          </a:p>
        </p:txBody>
      </p:sp>
      <p:graphicFrame>
        <p:nvGraphicFramePr>
          <p:cNvPr id="201" name="RF Perm Chart"/>
          <p:cNvGraphicFramePr/>
          <p:nvPr/>
        </p:nvGraphicFramePr>
        <p:xfrm>
          <a:off x="381000" y="1778000"/>
          <a:ext cx="5334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10315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4E954-8CB0-F198-3D16-07737E211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AdaBoost: respectable R², worst MAPE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CB227D-3942-036F-E466-E855D47CB7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70615"/>
            <a:ext cx="1840247" cy="295466"/>
          </a:xfrm>
        </p:spPr>
        <p:txBody>
          <a:bodyPr>
            <a:spAutoFit/>
          </a:bodyPr>
          <a:lstStyle/>
          <a:p>
            <a:r>
              <a:rPr lang="en-US" sz="1000" dirty="0"/>
              <a:t>Slide 11 of 15  |  AdaBoost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9607D0-56F0-4C57-B424-494CF13BC2FB}"/>
              </a:ext>
            </a:extLst>
          </p:cNvPr>
          <p:cNvSpPr/>
          <p:nvPr/>
        </p:nvSpPr>
        <p:spPr>
          <a:xfrm>
            <a:off x="762000" y="2032000"/>
            <a:ext cx="3429000" cy="2540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67FBF8-0694-4424-9FA8-D864C1A1962E}"/>
              </a:ext>
            </a:extLst>
          </p:cNvPr>
          <p:cNvSpPr txBox="1"/>
          <p:nvPr/>
        </p:nvSpPr>
        <p:spPr>
          <a:xfrm>
            <a:off x="889000" y="21590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595959"/>
                </a:solidFill>
              </a:rPr>
              <a:t>Test R²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D89C11-6686-4642-AC96-7191A5C15FE8}"/>
              </a:ext>
            </a:extLst>
          </p:cNvPr>
          <p:cNvSpPr txBox="1"/>
          <p:nvPr/>
        </p:nvSpPr>
        <p:spPr>
          <a:xfrm>
            <a:off x="889000" y="2514600"/>
            <a:ext cx="3175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6000" b="1">
                <a:solidFill>
                  <a:srgbClr val="1F1F1F"/>
                </a:solidFill>
              </a:rPr>
              <a:t>0.886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2BF3A1-947B-4EB5-B1B9-B4B73086C9F5}"/>
              </a:ext>
            </a:extLst>
          </p:cNvPr>
          <p:cNvSpPr txBox="1"/>
          <p:nvPr/>
        </p:nvSpPr>
        <p:spPr>
          <a:xfrm>
            <a:off x="889000" y="3581400"/>
            <a:ext cx="317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595959"/>
                </a:solidFill>
              </a:rPr>
              <a:t>middle of the pack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714AC0-C5C4-4DFC-9C7E-0693B89B101A}"/>
              </a:ext>
            </a:extLst>
          </p:cNvPr>
          <p:cNvSpPr txBox="1"/>
          <p:nvPr/>
        </p:nvSpPr>
        <p:spPr>
          <a:xfrm>
            <a:off x="889000" y="3937000"/>
            <a:ext cx="3175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595959"/>
                </a:solidFill>
              </a:rPr>
              <a:t>RMSE log 0.363 · MAE ₽15.1M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22018-977E-4AC4-9E9C-C8D971076ED5}"/>
              </a:ext>
            </a:extLst>
          </p:cNvPr>
          <p:cNvSpPr/>
          <p:nvPr/>
        </p:nvSpPr>
        <p:spPr>
          <a:xfrm>
            <a:off x="4826000" y="2032000"/>
            <a:ext cx="3429000" cy="25400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22C21B-7A16-4B50-AF04-257D8D0CEC5F}"/>
              </a:ext>
            </a:extLst>
          </p:cNvPr>
          <p:cNvSpPr txBox="1"/>
          <p:nvPr/>
        </p:nvSpPr>
        <p:spPr>
          <a:xfrm>
            <a:off x="4953000" y="21590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CCCC"/>
                </a:solidFill>
              </a:rPr>
              <a:t>MAPE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DD9EE4-AAE3-4576-8355-FB8925C3FDE5}"/>
              </a:ext>
            </a:extLst>
          </p:cNvPr>
          <p:cNvSpPr txBox="1"/>
          <p:nvPr/>
        </p:nvSpPr>
        <p:spPr>
          <a:xfrm>
            <a:off x="4953000" y="2514600"/>
            <a:ext cx="3175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6000" b="1">
                <a:solidFill>
                  <a:srgbClr val="FFFFFF"/>
                </a:solidFill>
              </a:rPr>
              <a:t>30.3%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D200F3-079B-460F-9575-6EFA33E3F9A2}"/>
              </a:ext>
            </a:extLst>
          </p:cNvPr>
          <p:cNvSpPr txBox="1"/>
          <p:nvPr/>
        </p:nvSpPr>
        <p:spPr>
          <a:xfrm>
            <a:off x="4953000" y="3581400"/>
            <a:ext cx="317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worst of any model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607FE5-28A4-4AA8-9150-EB8F2C8BB66F}"/>
              </a:ext>
            </a:extLst>
          </p:cNvPr>
          <p:cNvSpPr txBox="1"/>
          <p:nvPr/>
        </p:nvSpPr>
        <p:spPr>
          <a:xfrm>
            <a:off x="4953000" y="3937000"/>
            <a:ext cx="3175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FFE5E5"/>
                </a:solidFill>
              </a:rPr>
              <a:t>exponential loss chases outliers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6EA4A2-4514-43D0-9E47-252C7F9DAC38}"/>
              </a:ext>
            </a:extLst>
          </p:cNvPr>
          <p:cNvSpPr txBox="1"/>
          <p:nvPr/>
        </p:nvSpPr>
        <p:spPr>
          <a:xfrm>
            <a:off x="381000" y="4826000"/>
            <a:ext cx="812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595959"/>
                </a:solidFill>
              </a:rPr>
              <a:t>Tuned AdaBoost · DecisionTreeRegressor(max_depth=3) base · n_estimators=300 (grid ceiling) · learning_rate=0.05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30DF3A-F549-4E6B-A86E-FAB9147F92BF}"/>
              </a:ext>
            </a:extLst>
          </p:cNvPr>
          <p:cNvSpPr txBox="1"/>
          <p:nvPr/>
        </p:nvSpPr>
        <p:spPr>
          <a:xfrm>
            <a:off x="381000" y="5397500"/>
            <a:ext cx="8128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404040"/>
                </a:solidFill>
              </a:rPr>
              <a:t>R² looks fine, but exponential loss over-fits the tail; percent errors suffer.</a:t>
            </a:r>
          </a:p>
        </p:txBody>
      </p:sp>
    </p:spTree>
    <p:extLst>
      <p:ext uri="{BB962C8B-B14F-4D97-AF65-F5344CB8AC3E}">
        <p14:creationId xmlns:p14="http://schemas.microsoft.com/office/powerpoint/2010/main" val="738549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94CF2-3E5B-2FA7-2AA3-D7EE22F91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PyTorch MLP: R² = 0.91, short of the tree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9EAA4F-9A02-189E-2FC3-2BE33C3900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" y="6565347"/>
            <a:ext cx="2154436" cy="295466"/>
          </a:xfrm>
        </p:spPr>
        <p:txBody>
          <a:bodyPr>
            <a:spAutoFit/>
          </a:bodyPr>
          <a:lstStyle/>
          <a:p>
            <a:r>
              <a:rPr lang="en-US" sz="1000" dirty="0"/>
              <a:t>Slide 12 of 15  |  Neural network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21D168-8959-445A-8E1E-A92C10D679B7}"/>
              </a:ext>
            </a:extLst>
          </p:cNvPr>
          <p:cNvSpPr txBox="1"/>
          <p:nvPr/>
        </p:nvSpPr>
        <p:spPr>
          <a:xfrm>
            <a:off x="635000" y="17145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F1F1F"/>
                </a:solidFill>
              </a:rPr>
              <a:t>Architecture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529B9F-D8B0-4C32-9A03-E260A695E29E}"/>
              </a:ext>
            </a:extLst>
          </p:cNvPr>
          <p:cNvSpPr/>
          <p:nvPr/>
        </p:nvSpPr>
        <p:spPr>
          <a:xfrm>
            <a:off x="889000" y="2095500"/>
            <a:ext cx="3048000" cy="406400"/>
          </a:xfrm>
          <a:prstGeom prst="rect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1F1F1F"/>
                </a:solidFill>
              </a:rPr>
              <a:t>Input  ·  12 features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8ED2AE-7AA3-4F21-8496-3AD248A0EC08}"/>
              </a:ext>
            </a:extLst>
          </p:cNvPr>
          <p:cNvSpPr/>
          <p:nvPr/>
        </p:nvSpPr>
        <p:spPr>
          <a:xfrm>
            <a:off x="889000" y="2552700"/>
            <a:ext cx="3048000" cy="406400"/>
          </a:xfrm>
          <a:prstGeom prst="rect">
            <a:avLst/>
          </a:prstGeom>
          <a:solidFill>
            <a:srgbClr val="BDD7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1F1F1F"/>
                </a:solidFill>
              </a:rPr>
              <a:t>Linear 128  ·  ReLU  ·  Dropout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A8AAC8-7AC5-47E8-9EE0-B5BE87591FB9}"/>
              </a:ext>
            </a:extLst>
          </p:cNvPr>
          <p:cNvSpPr/>
          <p:nvPr/>
        </p:nvSpPr>
        <p:spPr>
          <a:xfrm>
            <a:off x="889000" y="3009900"/>
            <a:ext cx="3048000" cy="406400"/>
          </a:xfrm>
          <a:prstGeom prst="rect">
            <a:avLst/>
          </a:prstGeom>
          <a:solidFill>
            <a:srgbClr val="BDD7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1F1F1F"/>
                </a:solidFill>
              </a:rPr>
              <a:t>Linear 64  ·  ReLU  ·  Dropout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F65B5A-E0A1-482E-BDC0-E3B4C4C5E313}"/>
              </a:ext>
            </a:extLst>
          </p:cNvPr>
          <p:cNvSpPr/>
          <p:nvPr/>
        </p:nvSpPr>
        <p:spPr>
          <a:xfrm>
            <a:off x="889000" y="3467100"/>
            <a:ext cx="3048000" cy="406400"/>
          </a:xfrm>
          <a:prstGeom prst="rect">
            <a:avLst/>
          </a:prstGeom>
          <a:solidFill>
            <a:srgbClr val="BDD7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1F1F1F"/>
                </a:solidFill>
              </a:rPr>
              <a:t>Linear 32  ·  ReLU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179505-03B8-4537-917C-C5F7C9B6809F}"/>
              </a:ext>
            </a:extLst>
          </p:cNvPr>
          <p:cNvSpPr/>
          <p:nvPr/>
        </p:nvSpPr>
        <p:spPr>
          <a:xfrm>
            <a:off x="889000" y="3924300"/>
            <a:ext cx="3048000" cy="4064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Output  ·  Log_Price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E0ED85-BCDF-4998-B00F-92DCC6A69F80}"/>
              </a:ext>
            </a:extLst>
          </p:cNvPr>
          <p:cNvSpPr txBox="1"/>
          <p:nvPr/>
        </p:nvSpPr>
        <p:spPr>
          <a:xfrm>
            <a:off x="635000" y="4508500"/>
            <a:ext cx="355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595959"/>
                </a:solidFill>
              </a:rPr>
              <a:t>Adam · weight_decay 1e-3 · 300 epochs · GPU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6DD323-0DC0-4F80-AB29-1BF103A3EAC1}"/>
              </a:ext>
            </a:extLst>
          </p:cNvPr>
          <p:cNvSpPr txBox="1"/>
          <p:nvPr/>
        </p:nvSpPr>
        <p:spPr>
          <a:xfrm>
            <a:off x="4953000" y="17145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C00000"/>
                </a:solidFill>
              </a:rPr>
              <a:t>Metrics &amp; loss curve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9B9270-1CF7-4D21-B279-D8A73A36EFF1}"/>
              </a:ext>
            </a:extLst>
          </p:cNvPr>
          <p:cNvSpPr txBox="1"/>
          <p:nvPr/>
        </p:nvSpPr>
        <p:spPr>
          <a:xfrm>
            <a:off x="4953000" y="20955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F1F1F"/>
                </a:solidFill>
              </a:rPr>
              <a:t>Test R²:  0.9065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11D19F-0174-420D-80D6-5C71885DA532}"/>
              </a:ext>
            </a:extLst>
          </p:cNvPr>
          <p:cNvSpPr txBox="1"/>
          <p:nvPr/>
        </p:nvSpPr>
        <p:spPr>
          <a:xfrm>
            <a:off x="4953000" y="2374900"/>
            <a:ext cx="355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n-NO" sz="1200">
                <a:solidFill>
                  <a:srgbClr val="404040"/>
                </a:solidFill>
              </a:rPr>
              <a:t>RMSE log:  0.329  ·  MAPE:  18.47%</a:t>
            </a:r>
            <a:endParaRPr lang="en-US" sz="1200">
              <a:solidFill>
                <a:srgbClr val="40404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E90EEB-89B1-499D-BDA8-54352407AA43}"/>
              </a:ext>
            </a:extLst>
          </p:cNvPr>
          <p:cNvSpPr/>
          <p:nvPr/>
        </p:nvSpPr>
        <p:spPr>
          <a:xfrm>
            <a:off x="4953000" y="2730500"/>
            <a:ext cx="3556000" cy="2159000"/>
          </a:xfrm>
          <a:prstGeom prst="rect">
            <a:avLst/>
          </a:prstGeom>
          <a:solidFill>
            <a:srgbClr val="F2F2F2"/>
          </a:solidFill>
          <a:ln w="12700" cap="flat" cmpd="sng" algn="ctr">
            <a:solidFill>
              <a:srgbClr val="BFBFB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100" i="1">
                <a:solidFill>
                  <a:srgbClr val="808080"/>
                </a:solidFill>
              </a:rPr>
              <a:t>[ Training / validation loss curve 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F02955-1141-4DFC-AE46-805D8EED43D6}"/>
              </a:ext>
            </a:extLst>
          </p:cNvPr>
          <p:cNvSpPr txBox="1"/>
          <p:nvPr/>
        </p:nvSpPr>
        <p:spPr>
          <a:xfrm>
            <a:off x="381000" y="5080000"/>
            <a:ext cx="812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404040"/>
                </a:solidFill>
              </a:rPr>
              <a:t>Two-phase train: val split to confirm architecture, then fresh retrain on full 14,699 rows. Still behind the tuned tree.</a:t>
            </a:r>
          </a:p>
        </p:txBody>
      </p:sp>
    </p:spTree>
    <p:extLst>
      <p:ext uri="{BB962C8B-B14F-4D97-AF65-F5344CB8AC3E}">
        <p14:creationId xmlns:p14="http://schemas.microsoft.com/office/powerpoint/2010/main" val="1143893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B27FB-6C31-F978-EA5A-DE54B34FF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Stacking Ensemble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324A08-6646-83C4-E613-2AAA3178EE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70615"/>
            <a:ext cx="3516988" cy="295466"/>
          </a:xfrm>
        </p:spPr>
        <p:txBody>
          <a:bodyPr>
            <a:sp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808080"/>
                </a:solidFill>
              </a:rPr>
              <a:t>Slide 13 of 15 | Stacking ensemble &amp; meta-learner weights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E87D65-790D-4A8F-AB8C-6F7104DEF1E4}"/>
              </a:ext>
            </a:extLst>
          </p:cNvPr>
          <p:cNvSpPr txBox="1"/>
          <p:nvPr/>
        </p:nvSpPr>
        <p:spPr>
          <a:xfrm>
            <a:off x="508000" y="1651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5A5A5A"/>
                </a:solidFill>
              </a:rPr>
              <a:t>Base learners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57E8705-2F76-4AAF-9A5C-8BA0D2C6DA54}"/>
              </a:ext>
            </a:extLst>
          </p:cNvPr>
          <p:cNvSpPr/>
          <p:nvPr/>
        </p:nvSpPr>
        <p:spPr>
          <a:xfrm>
            <a:off x="508000" y="2032000"/>
            <a:ext cx="2159000" cy="482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333333"/>
                </a:solidFill>
              </a:rPr>
              <a:t>Random Forest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9FDCD1-F37F-4926-B6BE-FF188E810A56}"/>
              </a:ext>
            </a:extLst>
          </p:cNvPr>
          <p:cNvSpPr txBox="1"/>
          <p:nvPr/>
        </p:nvSpPr>
        <p:spPr>
          <a:xfrm>
            <a:off x="2743200" y="2133600"/>
            <a:ext cx="7620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4B7F52"/>
                </a:solidFill>
              </a:rPr>
              <a:t>+0.955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BEA1417-9D16-4A7A-8E73-75D8913F6AF2}"/>
              </a:ext>
            </a:extLst>
          </p:cNvPr>
          <p:cNvSpPr/>
          <p:nvPr/>
        </p:nvSpPr>
        <p:spPr>
          <a:xfrm>
            <a:off x="508000" y="2616200"/>
            <a:ext cx="2159000" cy="482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333333"/>
                </a:solidFill>
              </a:rPr>
              <a:t>Neural Network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9B7288-203E-41A6-8514-2BB8426240A6}"/>
              </a:ext>
            </a:extLst>
          </p:cNvPr>
          <p:cNvSpPr txBox="1"/>
          <p:nvPr/>
        </p:nvSpPr>
        <p:spPr>
          <a:xfrm>
            <a:off x="2743200" y="2717800"/>
            <a:ext cx="7620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3F6B47"/>
                </a:solidFill>
              </a:rPr>
              <a:t>+0.209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B7FD867-60A4-4896-AC22-061D908845A8}"/>
              </a:ext>
            </a:extLst>
          </p:cNvPr>
          <p:cNvSpPr/>
          <p:nvPr/>
        </p:nvSpPr>
        <p:spPr>
          <a:xfrm>
            <a:off x="508000" y="3200400"/>
            <a:ext cx="2159000" cy="482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333333"/>
                </a:solidFill>
              </a:rPr>
              <a:t>Decision Tree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7F1A84-B90D-4B7D-B5FC-4AF8197CF171}"/>
              </a:ext>
            </a:extLst>
          </p:cNvPr>
          <p:cNvSpPr txBox="1"/>
          <p:nvPr/>
        </p:nvSpPr>
        <p:spPr>
          <a:xfrm>
            <a:off x="2743200" y="3302000"/>
            <a:ext cx="7620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666666"/>
                </a:solidFill>
              </a:rPr>
              <a:t>−0.013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B5E6F6C-D690-4435-8408-E065AD3AF789}"/>
              </a:ext>
            </a:extLst>
          </p:cNvPr>
          <p:cNvSpPr/>
          <p:nvPr/>
        </p:nvSpPr>
        <p:spPr>
          <a:xfrm>
            <a:off x="508000" y="3784600"/>
            <a:ext cx="2159000" cy="482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333333"/>
                </a:solidFill>
              </a:rPr>
              <a:t>Ridge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417B6E-B70A-4738-86D2-9E5259C23E13}"/>
              </a:ext>
            </a:extLst>
          </p:cNvPr>
          <p:cNvSpPr txBox="1"/>
          <p:nvPr/>
        </p:nvSpPr>
        <p:spPr>
          <a:xfrm>
            <a:off x="2743200" y="3886200"/>
            <a:ext cx="7620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666666"/>
                </a:solidFill>
              </a:rPr>
              <a:t>−0.017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BC88F43-8CBC-4608-A6F7-F3E76AC96839}"/>
              </a:ext>
            </a:extLst>
          </p:cNvPr>
          <p:cNvSpPr/>
          <p:nvPr/>
        </p:nvSpPr>
        <p:spPr>
          <a:xfrm>
            <a:off x="508000" y="4368800"/>
            <a:ext cx="2159000" cy="482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333333"/>
                </a:solidFill>
              </a:rPr>
              <a:t>AdaBoost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C413FE-F9FF-44D0-98FC-DBE6C004CC80}"/>
              </a:ext>
            </a:extLst>
          </p:cNvPr>
          <p:cNvSpPr txBox="1"/>
          <p:nvPr/>
        </p:nvSpPr>
        <p:spPr>
          <a:xfrm>
            <a:off x="2743200" y="4470400"/>
            <a:ext cx="7620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9A3030"/>
                </a:solidFill>
              </a:rPr>
              <a:t>−0.134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E38F391-6E18-4A63-932D-176513718D8E}"/>
              </a:ext>
            </a:extLst>
          </p:cNvPr>
          <p:cNvSpPr/>
          <p:nvPr/>
        </p:nvSpPr>
        <p:spPr>
          <a:xfrm>
            <a:off x="4318000" y="2222500"/>
            <a:ext cx="2286000" cy="2159000"/>
          </a:xfrm>
          <a:prstGeom prst="round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19F9BE-6CF3-4C40-9786-1AD9D11B2E04}"/>
              </a:ext>
            </a:extLst>
          </p:cNvPr>
          <p:cNvSpPr txBox="1"/>
          <p:nvPr/>
        </p:nvSpPr>
        <p:spPr>
          <a:xfrm>
            <a:off x="4318000" y="2921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RidgeCV
meta-learner
(5-fold CV)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4BFD234-2EAE-40D2-8B45-900C88B4CA9C}"/>
              </a:ext>
            </a:extLst>
          </p:cNvPr>
          <p:cNvSpPr/>
          <p:nvPr/>
        </p:nvSpPr>
        <p:spPr>
          <a:xfrm>
            <a:off x="6858000" y="2222500"/>
            <a:ext cx="2032000" cy="2159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5BA616-09EE-488C-908F-8E9E98532AF0}"/>
              </a:ext>
            </a:extLst>
          </p:cNvPr>
          <p:cNvSpPr txBox="1"/>
          <p:nvPr/>
        </p:nvSpPr>
        <p:spPr>
          <a:xfrm>
            <a:off x="6908800" y="2451100"/>
            <a:ext cx="19304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Stacking result
Test R² = 0.9450
MAPE = 14.93%
(best MAPE)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94D1DA-27FE-4F70-9EA7-DA2C8FFBC036}"/>
              </a:ext>
            </a:extLst>
          </p:cNvPr>
          <p:cNvSpPr/>
          <p:nvPr/>
        </p:nvSpPr>
        <p:spPr>
          <a:xfrm>
            <a:off x="381000" y="5080000"/>
            <a:ext cx="8128000" cy="6604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B64913-F39E-49E4-9657-B8639497DC82}"/>
              </a:ext>
            </a:extLst>
          </p:cNvPr>
          <p:cNvSpPr txBox="1"/>
          <p:nvPr/>
        </p:nvSpPr>
        <p:spPr>
          <a:xfrm>
            <a:off x="508000" y="5181600"/>
            <a:ext cx="78740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333333"/>
                </a:solidFill>
              </a:rPr>
              <a:t>Meta-learner placed 95% weight on Random Forest; RF had already captured most of the signal.</a:t>
            </a:r>
          </a:p>
        </p:txBody>
      </p:sp>
    </p:spTree>
    <p:extLst>
      <p:ext uri="{BB962C8B-B14F-4D97-AF65-F5344CB8AC3E}">
        <p14:creationId xmlns:p14="http://schemas.microsoft.com/office/powerpoint/2010/main" val="1301814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9385C-988F-12A9-11F9-78A3FBD94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Model Comparison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83B9C3-01CE-B974-650A-D63E0A6EA8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70615"/>
            <a:ext cx="3036088" cy="295466"/>
          </a:xfrm>
        </p:spPr>
        <p:txBody>
          <a:bodyPr>
            <a:sp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808080"/>
                </a:solidFill>
              </a:rPr>
              <a:t>Slide 14 of 15 | Full model leaderboard by Test R²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09534B-A25D-44FD-AF86-15FA09F9EA75}"/>
              </a:ext>
            </a:extLst>
          </p:cNvPr>
          <p:cNvSpPr/>
          <p:nvPr/>
        </p:nvSpPr>
        <p:spPr>
          <a:xfrm>
            <a:off x="381000" y="5842000"/>
            <a:ext cx="8128000" cy="635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0D791C-6676-40D9-924E-7B0CD83C9C66}"/>
              </a:ext>
            </a:extLst>
          </p:cNvPr>
          <p:cNvSpPr txBox="1"/>
          <p:nvPr/>
        </p:nvSpPr>
        <p:spPr>
          <a:xfrm>
            <a:off x="508000" y="5918200"/>
            <a:ext cx="7874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</a:rPr>
              <a:t>Random Forest &amp; Stacking tie at the top (~0.946 R²); linear models cluster ~8 pts lower. One 80/20 split, not nested CV.</a:t>
            </a:r>
          </a:p>
        </p:txBody>
      </p:sp>
      <p:graphicFrame>
        <p:nvGraphicFramePr>
          <p:cNvPr id="201" name="Chart 1"/>
          <p:cNvGraphicFramePr/>
          <p:nvPr/>
        </p:nvGraphicFramePr>
        <p:xfrm>
          <a:off x="381000" y="1600200"/>
          <a:ext cx="7620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0412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75F64-E426-F959-2CEA-8CD44CFD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Conclusions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81D812-03DD-C32F-7FA8-BC186303DA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70615"/>
            <a:ext cx="3396764" cy="295466"/>
          </a:xfrm>
        </p:spPr>
        <p:txBody>
          <a:bodyPr>
            <a:sp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808080"/>
                </a:solidFill>
              </a:rPr>
              <a:t>Slide 15 of 15 | Answers to our three research questions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AD5519-11D0-466D-8307-589B9B25B06C}"/>
              </a:ext>
            </a:extLst>
          </p:cNvPr>
          <p:cNvSpPr/>
          <p:nvPr/>
        </p:nvSpPr>
        <p:spPr>
          <a:xfrm>
            <a:off x="444500" y="1778000"/>
            <a:ext cx="2667000" cy="355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FAFF7D2-54C5-45EC-88FA-BC1B5AB396F3}"/>
              </a:ext>
            </a:extLst>
          </p:cNvPr>
          <p:cNvSpPr/>
          <p:nvPr/>
        </p:nvSpPr>
        <p:spPr>
          <a:xfrm>
            <a:off x="635000" y="2006600"/>
            <a:ext cx="533400" cy="5334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D8B852-1E5D-4244-BA06-2BBF7E1F6FD8}"/>
              </a:ext>
            </a:extLst>
          </p:cNvPr>
          <p:cNvSpPr txBox="1"/>
          <p:nvPr/>
        </p:nvSpPr>
        <p:spPr>
          <a:xfrm>
            <a:off x="1282700" y="2095500"/>
            <a:ext cx="17018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333333"/>
                </a:solidFill>
              </a:rPr>
              <a:t>How accurately?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510C40-672C-4F47-8965-AC8A079FC637}"/>
              </a:ext>
            </a:extLst>
          </p:cNvPr>
          <p:cNvSpPr/>
          <p:nvPr/>
        </p:nvSpPr>
        <p:spPr>
          <a:xfrm>
            <a:off x="635000" y="2730500"/>
            <a:ext cx="2286000" cy="254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48B88-6D21-4AD3-A382-CE464F64F151}"/>
              </a:ext>
            </a:extLst>
          </p:cNvPr>
          <p:cNvSpPr txBox="1"/>
          <p:nvPr/>
        </p:nvSpPr>
        <p:spPr>
          <a:xfrm>
            <a:off x="635000" y="2921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C00000"/>
                </a:solidFill>
              </a:rPr>
              <a:t>R² = 0.946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E06A83-92CB-4AFD-BBED-599F60E306CC}"/>
              </a:ext>
            </a:extLst>
          </p:cNvPr>
          <p:cNvSpPr txBox="1"/>
          <p:nvPr/>
        </p:nvSpPr>
        <p:spPr>
          <a:xfrm>
            <a:off x="635000" y="3810000"/>
            <a:ext cx="2286000" cy="127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~95% of log-price variance explained. MAPE 15% ≈ ₹4M off a typical listing.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26566F-1162-4D24-8D85-3D56046F0C18}"/>
              </a:ext>
            </a:extLst>
          </p:cNvPr>
          <p:cNvSpPr/>
          <p:nvPr/>
        </p:nvSpPr>
        <p:spPr>
          <a:xfrm>
            <a:off x="3238500" y="1778000"/>
            <a:ext cx="2667000" cy="355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0DDECA-B1D8-417E-A6B4-18F35C36DA07}"/>
              </a:ext>
            </a:extLst>
          </p:cNvPr>
          <p:cNvSpPr/>
          <p:nvPr/>
        </p:nvSpPr>
        <p:spPr>
          <a:xfrm>
            <a:off x="3429000" y="2006600"/>
            <a:ext cx="533400" cy="5334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EF7829-D966-41BC-A984-57582B364625}"/>
              </a:ext>
            </a:extLst>
          </p:cNvPr>
          <p:cNvSpPr txBox="1"/>
          <p:nvPr/>
        </p:nvSpPr>
        <p:spPr>
          <a:xfrm>
            <a:off x="4076700" y="2095500"/>
            <a:ext cx="17018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333333"/>
                </a:solidFill>
              </a:rPr>
              <a:t>What do buyers value?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964B2E-3D49-46B0-AE1C-60B22B0CCFB5}"/>
              </a:ext>
            </a:extLst>
          </p:cNvPr>
          <p:cNvSpPr/>
          <p:nvPr/>
        </p:nvSpPr>
        <p:spPr>
          <a:xfrm>
            <a:off x="3429000" y="2730500"/>
            <a:ext cx="2286000" cy="254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E13990-F5C1-4750-BC4F-F70792E85632}"/>
              </a:ext>
            </a:extLst>
          </p:cNvPr>
          <p:cNvSpPr txBox="1"/>
          <p:nvPr/>
        </p:nvSpPr>
        <p:spPr>
          <a:xfrm>
            <a:off x="3429000" y="2921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C00000"/>
                </a:solidFill>
              </a:rPr>
              <a:t>Renovation + Location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A49E2B-DE79-40E4-871E-16CA342A296C}"/>
              </a:ext>
            </a:extLst>
          </p:cNvPr>
          <p:cNvSpPr txBox="1"/>
          <p:nvPr/>
        </p:nvSpPr>
        <p:spPr>
          <a:xfrm>
            <a:off x="3429000" y="3810000"/>
            <a:ext cx="2286000" cy="127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Linear coefficients: Designer (+0.65), Moscow city (+0.43 vs region), Area (+0.40).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5B5CE8-BE41-4B42-8BEA-838C98138F0F}"/>
              </a:ext>
            </a:extLst>
          </p:cNvPr>
          <p:cNvSpPr/>
          <p:nvPr/>
        </p:nvSpPr>
        <p:spPr>
          <a:xfrm>
            <a:off x="6032500" y="1778000"/>
            <a:ext cx="2667000" cy="355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C46A8ED-2293-4095-AC4B-95F4438D541A}"/>
              </a:ext>
            </a:extLst>
          </p:cNvPr>
          <p:cNvSpPr/>
          <p:nvPr/>
        </p:nvSpPr>
        <p:spPr>
          <a:xfrm>
            <a:off x="6223000" y="2006600"/>
            <a:ext cx="533400" cy="5334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7FF939-C3D6-4902-86E2-D45CFA76F2B9}"/>
              </a:ext>
            </a:extLst>
          </p:cNvPr>
          <p:cNvSpPr txBox="1"/>
          <p:nvPr/>
        </p:nvSpPr>
        <p:spPr>
          <a:xfrm>
            <a:off x="6870700" y="2095500"/>
            <a:ext cx="17018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333333"/>
                </a:solidFill>
              </a:rPr>
              <a:t>What matters for prediction?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148926-F535-44F6-84EF-F401E236B28B}"/>
              </a:ext>
            </a:extLst>
          </p:cNvPr>
          <p:cNvSpPr/>
          <p:nvPr/>
        </p:nvSpPr>
        <p:spPr>
          <a:xfrm>
            <a:off x="6223000" y="2730500"/>
            <a:ext cx="2286000" cy="254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CD6A1E-5C3A-4079-A90A-687FEEC9F5B4}"/>
              </a:ext>
            </a:extLst>
          </p:cNvPr>
          <p:cNvSpPr txBox="1"/>
          <p:nvPr/>
        </p:nvSpPr>
        <p:spPr>
          <a:xfrm>
            <a:off x="6223000" y="2921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C00000"/>
                </a:solidFill>
              </a:rPr>
              <a:t>Area dominates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C9A678-A7BF-4807-A60F-B6DFEAB3B543}"/>
              </a:ext>
            </a:extLst>
          </p:cNvPr>
          <p:cNvSpPr txBox="1"/>
          <p:nvPr/>
        </p:nvSpPr>
        <p:spPr>
          <a:xfrm>
            <a:off x="6223000" y="3810000"/>
            <a:ext cx="2286000" cy="127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RF permutation importance: Area 0.36, Apt type 0.09, Region 0.07.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9AA0F3-D205-40A4-A9BD-DD2F6A7AABE4}"/>
              </a:ext>
            </a:extLst>
          </p:cNvPr>
          <p:cNvSpPr/>
          <p:nvPr/>
        </p:nvSpPr>
        <p:spPr>
          <a:xfrm>
            <a:off x="381000" y="5588000"/>
            <a:ext cx="8382000" cy="889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4A627E-3BB3-4B18-9C03-C1E13CA3AA78}"/>
              </a:ext>
            </a:extLst>
          </p:cNvPr>
          <p:cNvSpPr txBox="1"/>
          <p:nvPr/>
        </p:nvSpPr>
        <p:spPr>
          <a:xfrm>
            <a:off x="508000" y="5664200"/>
            <a:ext cx="3937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5A5A5A"/>
                </a:solidFill>
              </a:rPr>
              <a:t>Limitations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3AA31C-3E91-4C02-9341-E8EC7F9B8EA5}"/>
              </a:ext>
            </a:extLst>
          </p:cNvPr>
          <p:cNvSpPr txBox="1"/>
          <p:nvPr/>
        </p:nvSpPr>
        <p:spPr>
          <a:xfrm>
            <a:off x="508000" y="5892800"/>
            <a:ext cx="39370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</a:rPr>
              <a:t>Single 80/20 split • listing (not sale) prices • 2021 snapshot • Metro dropped (317 stations)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AA5F55-B9CA-4793-86B9-FCE0E0A0D9F4}"/>
              </a:ext>
            </a:extLst>
          </p:cNvPr>
          <p:cNvSpPr txBox="1"/>
          <p:nvPr/>
        </p:nvSpPr>
        <p:spPr>
          <a:xfrm>
            <a:off x="4699000" y="5664200"/>
            <a:ext cx="3937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5A5A5A"/>
                </a:solidFill>
              </a:rPr>
              <a:t>Future Work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2CC7FE-707D-4D58-B4E8-A3D56CF4D5A6}"/>
              </a:ext>
            </a:extLst>
          </p:cNvPr>
          <p:cNvSpPr txBox="1"/>
          <p:nvPr/>
        </p:nvSpPr>
        <p:spPr>
          <a:xfrm>
            <a:off x="4699000" y="5892800"/>
            <a:ext cx="39370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</a:rPr>
              <a:t>Gradient boosting (XGBoost, LightGBM) • finer geography • time-series features</a:t>
            </a:r>
          </a:p>
        </p:txBody>
      </p:sp>
    </p:spTree>
    <p:extLst>
      <p:ext uri="{BB962C8B-B14F-4D97-AF65-F5344CB8AC3E}">
        <p14:creationId xmlns:p14="http://schemas.microsoft.com/office/powerpoint/2010/main" val="2602429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67ABA-DE67-4D64-2873-95AA7C1B3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623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W-Madison theme1">
      <a:dk1>
        <a:srgbClr val="202020"/>
      </a:dk1>
      <a:lt1>
        <a:srgbClr val="FFFFFF"/>
      </a:lt1>
      <a:dk2>
        <a:srgbClr val="101010"/>
      </a:dk2>
      <a:lt2>
        <a:srgbClr val="DADFE1"/>
      </a:lt2>
      <a:accent1>
        <a:srgbClr val="C5050C"/>
      </a:accent1>
      <a:accent2>
        <a:srgbClr val="C5050C"/>
      </a:accent2>
      <a:accent3>
        <a:srgbClr val="9B0000"/>
      </a:accent3>
      <a:accent4>
        <a:srgbClr val="FCCB51"/>
      </a:accent4>
      <a:accent5>
        <a:srgbClr val="80B3AE"/>
      </a:accent5>
      <a:accent6>
        <a:srgbClr val="ADADAD"/>
      </a:accent6>
      <a:hlink>
        <a:srgbClr val="0479A8"/>
      </a:hlink>
      <a:folHlink>
        <a:srgbClr val="0479A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7" id="{1EEE5BF4-5AFB-C447-BA57-B0986BA6C23E}" vid="{D04DCC2D-2D59-E142-8CEE-399C901973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9291860-087F-4D68-A3E8-714DB4EBF0C3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b89b3ce5-eaea-4841-a0bd-3970e1efd17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UW-Madison-text-RedHat-4_3</Template>
  <TotalTime>41</TotalTime>
  <Words>1260</Words>
  <Application>Microsoft Office PowerPoint</Application>
  <PresentationFormat>On-screen Show (4:3)</PresentationFormat>
  <Paragraphs>206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Red Hat Display</vt:lpstr>
      <vt:lpstr>Red Hat Text</vt:lpstr>
      <vt:lpstr>Office Theme</vt:lpstr>
      <vt:lpstr>Predicting Moscow Apartment Prices A Machine Learning Comparison Study</vt:lpstr>
      <vt:lpstr>Executive Summary</vt:lpstr>
      <vt:lpstr>Why Moscow housing?</vt:lpstr>
      <vt:lpstr>Moscow apartment listings dataset</vt:lpstr>
      <vt:lpstr>Two-pass cleaning, 18% of rows dropped</vt:lpstr>
      <vt:lpstr>Log transform tames a severe right skew</vt:lpstr>
      <vt:lpstr>Area drives price, and correlates with itself</vt:lpstr>
      <vt:lpstr>Renovation and region also move price</vt:lpstr>
      <vt:lpstr>One pipeline, eight models, same split</vt:lpstr>
      <vt:lpstr>Linear baselines: R² ≈ 0.87, MAPE ≈ 28%</vt:lpstr>
      <vt:lpstr>Decision trees: from overfit to 0.92 test R²</vt:lpstr>
      <vt:lpstr>Random Forest: our best single model</vt:lpstr>
      <vt:lpstr>AdaBoost: respectable R², worst MAPE</vt:lpstr>
      <vt:lpstr>PyTorch MLP: R² = 0.91, short of the tree</vt:lpstr>
      <vt:lpstr>Stacking Ensemble</vt:lpstr>
      <vt:lpstr>Model Comparison</vt:lpstr>
      <vt:lpstr>Conclusions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Dylan Hicks</dc:creator>
  <cp:lastModifiedBy>Dylan Hicks</cp:lastModifiedBy>
  <cp:revision>7</cp:revision>
  <dcterms:created xsi:type="dcterms:W3CDTF">2026-04-21T14:58:16Z</dcterms:created>
  <dcterms:modified xsi:type="dcterms:W3CDTF">2026-04-23T20:36:35Z</dcterms:modified>
</cp:coreProperties>
</file>